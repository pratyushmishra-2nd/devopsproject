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PantryPulse is a stock and expiry tracker for community food banks. This talk covers the application and the DevSecOps platform around it: tests, containers, a gated CI/CD pipeline, Terraform for AWS, Kubernetes with Helm, GitOps with Argo CD, and monitoring with Prometheus and Grafana.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Food banks receive donations with very different shelf lives. PantryPulse shows what is on the shelf, what expires soon, who donated it and where it went. The API enforces the rules that matter: no dispatching expired or held stock, never more than what is left, and no deleting a lot that has dispatch history.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reaches Traefik. Slash goes to the React frontend on unprivileged nginx; slash api goes to the FastAPI backend, which talks to PostgreSQL. Alembic migrations run once per release as a Job. Prometheus scrapes every API pod through a ServiceMonitor and Grafana visualises it. GitHub Actions builds and scans images and pushes them to GHCR tagged by commit SHA; Argo CD keeps the cluster in sync with Git.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layer uses mainstream, current tooling. One notable decision: the course examples use ingress-nginx, but that project was retired upstream in March 2026, so I chose Traefik. Every decision like this is written down as an ADR in docs slash adr.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has 33 unit tests on an in-memory SQLite database through FastAPI dependency overrides, plus two integration tests that run Alembic and the API against real PostgreSQL in CI. The frontend has 15 vitest tests. Both images are multi-stage and run as non-root: UID 10001 for the API and UID 101 for nginx. Docker Compose starts all three services with health-gated ordering and a persistent volume.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gate jobs run in parallel: backend, frontend, secret scan and infrastructure checks. Only if all pass are the images built and scanned by Trivy, and only a clean scan is pushed to GHCR, tagged with the full commit SHA. The last job verifies the build provenance, deploys that exact SHA to a throwaway kind cluster and smoke-tests it through the Ingress.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Trivy scans both images before they are pushed and fails the job on any fixable high or critical CVE. The current result is zero for both images. That is a consequence of choices: current minimal base images, a multi-stage build that leaves compilers out of the runtime image, and pinned dependencies kept current by Dependabot. The full report with all severities is still uploaded for visibility.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defines a VPC with two public and two private subnets, EKS 1.35 with a managed node group of two t3 medium nodes, IAM roles, add-ons and the EBS CSI driver. Costly extras like a NAT gateway are behind switches. It passes validate, four terraform tests and an offline plan of 29 resources. Honest status: it has not been applied, because no valid AWS credentials were available, so there are no AWS console screenshots. The runbook has the exact apply and destroy steps.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Helm chart deploys the frontend and backend with at least two replicas each, ClusterIP services, PostgreSQL as a StatefulSet, the migration job, an Ingress, autoscalers, disruption budgets, a network policy and a ServiceMonitor. Under load the backend autoscaler went from two to five replicas and 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Argo CD watches the chart and an environment values file on main. Promoting a build is a commit that changes the image SHA, made by a script that refuses builds that are not in GHCR. Rolling back is a git revert. In the recorded drill, both converged in under a minute.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exposes Prometheus metrics: request counts and latency by endpoint, plus business counters for stock received and food dispatched. Prometheus discovers every API pod through the ServiceMonitor: five out of five were up during the scale-out. Grafana shows a provisioned dashboard with request rate, latency percentiles, error ratio, replicas and CPU.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labs break something on purpose in an isolated namespace, and each was diagnosed and fixed with kubectl. More valuable were the real incidents found while building: a Docker Hub DNS failure, a Traefik rollout deadlock caused by host ports, Grafana thrashing its garbage collector, and a schema error that the CI pipeline caught.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terminal output in the evidence folder was recorded by a script that runs the real command and saves its output verbatim. Screenshots of terminals are renders of those transcripts and name their source; browser screenshots carry the URL they came from. Nothing about AWS is claimed beyond what ran offline.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lessons: gates only matter if they run before publishing; immutable SHA tags make rollbacks trivial; readiness probes and migration jobs turn data problems into visible, contained failures; and most of the real problems were in the platform, not the code, which is exactly what monitoring and runbooks are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Next, the live walkthrough: the codebase, CI/CD, Terraform, Argo CD, Kubernetes, Prometheus and Grafana.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5F46"/>
        </a:solidFill>
        <a:effectLst/>
      </p:bgPr>
    </p:bg>
    <p:spTree>
      <p:nvGrpSpPr>
        <p:cNvPr id="1" name=""/>
        <p:cNvGrpSpPr/>
        <p:nvPr/>
      </p:nvGrpSpPr>
      <p:grpSpPr/>
      <p:sp>
        <p:nvSpPr>
          <p:cNvPr id="2" name="TextBox 1"/>
          <p:cNvSpPr txBox="1"/>
          <p:nvPr/>
        </p:nvSpPr>
        <p:spPr>
          <a:xfrm>
            <a:off x="822960" y="1371600"/>
            <a:ext cx="10058400" cy="457200"/>
          </a:xfrm>
          <a:prstGeom prst="rect">
            <a:avLst/>
          </a:prstGeom>
          <a:noFill/>
        </p:spPr>
        <p:txBody>
          <a:bodyPr wrap="square" anchor="t" lIns="45720" rIns="45720">
            <a:spAutoFit/>
          </a:bodyPr>
          <a:lstStyle/>
          <a:p>
            <a:pPr algn="l">
              <a:spcAft>
                <a:spcPts val="600"/>
              </a:spcAft>
            </a:pPr>
            <a:r>
              <a:rPr sz="1400" b="1">
                <a:solidFill>
                  <a:srgbClr val="F2C47A"/>
                </a:solidFill>
                <a:latin typeface="Segoe UI"/>
              </a:rPr>
              <a:t>DEVSECOPS CAPSTONE  ·  OCTOBER 2026</a:t>
            </a:r>
          </a:p>
        </p:txBody>
      </p:sp>
      <p:sp>
        <p:nvSpPr>
          <p:cNvPr id="3" name="TextBox 2"/>
          <p:cNvSpPr txBox="1"/>
          <p:nvPr/>
        </p:nvSpPr>
        <p:spPr>
          <a:xfrm>
            <a:off x="822960" y="1828800"/>
            <a:ext cx="10058400" cy="1280160"/>
          </a:xfrm>
          <a:prstGeom prst="rect">
            <a:avLst/>
          </a:prstGeom>
          <a:noFill/>
        </p:spPr>
        <p:txBody>
          <a:bodyPr wrap="square" anchor="t" lIns="45720" rIns="45720">
            <a:spAutoFit/>
          </a:bodyPr>
          <a:lstStyle/>
          <a:p>
            <a:pPr algn="l">
              <a:spcAft>
                <a:spcPts val="600"/>
              </a:spcAft>
            </a:pPr>
            <a:r>
              <a:rPr sz="6600" b="1">
                <a:solidFill>
                  <a:srgbClr val="FFFFFF"/>
                </a:solidFill>
                <a:latin typeface="Georgia"/>
              </a:rPr>
              <a:t>PantryPulse</a:t>
            </a:r>
          </a:p>
        </p:txBody>
      </p:sp>
      <p:sp>
        <p:nvSpPr>
          <p:cNvPr id="4" name="TextBox 3"/>
          <p:cNvSpPr txBox="1"/>
          <p:nvPr/>
        </p:nvSpPr>
        <p:spPr>
          <a:xfrm>
            <a:off x="822960" y="2971800"/>
            <a:ext cx="10515600" cy="914400"/>
          </a:xfrm>
          <a:prstGeom prst="rect">
            <a:avLst/>
          </a:prstGeom>
          <a:noFill/>
        </p:spPr>
        <p:txBody>
          <a:bodyPr wrap="square" anchor="t" lIns="45720" rIns="45720">
            <a:spAutoFit/>
          </a:bodyPr>
          <a:lstStyle/>
          <a:p>
            <a:pPr algn="l">
              <a:spcAft>
                <a:spcPts val="600"/>
              </a:spcAft>
            </a:pPr>
            <a:r>
              <a:rPr sz="2200" b="0">
                <a:solidFill>
                  <a:srgbClr val="E6EFEA"/>
                </a:solidFill>
                <a:latin typeface="Segoe UI"/>
              </a:rPr>
              <a:t>Stock, expiry and dispatch tracking for community food banks —
shipped through a gated, observable, GitOps-driven delivery platform.</a:t>
            </a:r>
          </a:p>
        </p:txBody>
      </p:sp>
      <p:sp>
        <p:nvSpPr>
          <p:cNvPr id="5" name="TextBox 4"/>
          <p:cNvSpPr txBox="1"/>
          <p:nvPr/>
        </p:nvSpPr>
        <p:spPr>
          <a:xfrm>
            <a:off x="822960" y="4846320"/>
            <a:ext cx="10058400" cy="457200"/>
          </a:xfrm>
          <a:prstGeom prst="rect">
            <a:avLst/>
          </a:prstGeom>
          <a:noFill/>
        </p:spPr>
        <p:txBody>
          <a:bodyPr wrap="square" anchor="t" lIns="45720" rIns="45720">
            <a:spAutoFit/>
          </a:bodyPr>
          <a:lstStyle/>
          <a:p>
            <a:pPr algn="l">
              <a:spcAft>
                <a:spcPts val="600"/>
              </a:spcAft>
            </a:pPr>
            <a:r>
              <a:rPr sz="2000" b="1">
                <a:solidFill>
                  <a:srgbClr val="FFFFFF"/>
                </a:solidFill>
                <a:latin typeface="Segoe UI"/>
              </a:rPr>
              <a:t>Pratyush Mishra</a:t>
            </a:r>
          </a:p>
        </p:txBody>
      </p:sp>
      <p:sp>
        <p:nvSpPr>
          <p:cNvPr id="6" name="TextBox 5"/>
          <p:cNvSpPr txBox="1"/>
          <p:nvPr/>
        </p:nvSpPr>
        <p:spPr>
          <a:xfrm>
            <a:off x="822960" y="5257800"/>
            <a:ext cx="10515600" cy="457200"/>
          </a:xfrm>
          <a:prstGeom prst="rect">
            <a:avLst/>
          </a:prstGeom>
          <a:noFill/>
        </p:spPr>
        <p:txBody>
          <a:bodyPr wrap="square" anchor="t" lIns="45720" rIns="45720">
            <a:spAutoFit/>
          </a:bodyPr>
          <a:lstStyle/>
          <a:p>
            <a:pPr algn="l">
              <a:spcAft>
                <a:spcPts val="600"/>
              </a:spcAft>
            </a:pPr>
            <a:r>
              <a:rPr sz="1500" b="0">
                <a:solidFill>
                  <a:srgbClr val="C9DBD1"/>
                </a:solidFill>
                <a:latin typeface="Segoe UI"/>
              </a:rPr>
              <a:t>github.com/PratyushMishra-2nd/DevopsProject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THE APPLICATION</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What PantryPulse does</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2 / 15</a:t>
            </a:r>
          </a:p>
        </p:txBody>
      </p:sp>
      <p:sp>
        <p:nvSpPr>
          <p:cNvPr id="7" name="TextBox 6"/>
          <p:cNvSpPr txBox="1"/>
          <p:nvPr/>
        </p:nvSpPr>
        <p:spPr>
          <a:xfrm>
            <a:off x="548640" y="1463040"/>
            <a:ext cx="4846320" cy="4754880"/>
          </a:xfrm>
          <a:prstGeom prst="rect">
            <a:avLst/>
          </a:prstGeom>
          <a:noFill/>
        </p:spPr>
        <p:txBody>
          <a:bodyPr wrap="square">
            <a:spAutoFit/>
          </a:bodyPr>
          <a:lstStyle/>
          <a:p>
            <a:pPr>
              <a:spcAft>
                <a:spcPts val="900"/>
              </a:spcAft>
            </a:pPr>
            <a:r>
              <a:rPr sz="1100">
                <a:solidFill>
                  <a:srgbClr val="1F5F46"/>
                </a:solidFill>
                <a:latin typeface="Segoe UI"/>
              </a:rPr>
              <a:t>■  </a:t>
            </a:r>
            <a:r>
              <a:rPr sz="1700">
                <a:solidFill>
                  <a:srgbClr val="1D2420"/>
                </a:solidFill>
                <a:latin typeface="Segoe UI"/>
              </a:rPr>
              <a:t>Shelf: every lot with a freshness bar and KPIs</a:t>
            </a:r>
          </a:p>
          <a:p>
            <a:pPr>
              <a:spcAft>
                <a:spcPts val="900"/>
              </a:spcAft>
            </a:pPr>
            <a:r>
              <a:rPr sz="1100">
                <a:solidFill>
                  <a:srgbClr val="1F5F46"/>
                </a:solidFill>
                <a:latin typeface="Segoe UI"/>
              </a:rPr>
              <a:t>■  </a:t>
            </a:r>
            <a:r>
              <a:rPr sz="1700">
                <a:solidFill>
                  <a:srgbClr val="1D2420"/>
                </a:solidFill>
                <a:latin typeface="Segoe UI"/>
              </a:rPr>
              <a:t>Expiry radar: what to move first</a:t>
            </a:r>
          </a:p>
          <a:p>
            <a:pPr>
              <a:spcAft>
                <a:spcPts val="900"/>
              </a:spcAft>
            </a:pPr>
            <a:r>
              <a:rPr sz="1100">
                <a:solidFill>
                  <a:srgbClr val="1F5F46"/>
                </a:solidFill>
                <a:latin typeface="Segoe UI"/>
              </a:rPr>
              <a:t>■  </a:t>
            </a:r>
            <a:r>
              <a:rPr sz="1700">
                <a:solidFill>
                  <a:srgbClr val="1D2420"/>
                </a:solidFill>
                <a:latin typeface="Segoe UI"/>
              </a:rPr>
              <a:t>Donors and a dispatch log to partner shelters</a:t>
            </a:r>
          </a:p>
          <a:p>
            <a:pPr>
              <a:spcAft>
                <a:spcPts val="900"/>
              </a:spcAft>
            </a:pPr>
            <a:r>
              <a:rPr sz="1100">
                <a:solidFill>
                  <a:srgbClr val="1F5F46"/>
                </a:solidFill>
                <a:latin typeface="Segoe UI"/>
              </a:rPr>
              <a:t>■  </a:t>
            </a:r>
            <a:r>
              <a:rPr sz="1700">
                <a:solidFill>
                  <a:srgbClr val="1D2420"/>
                </a:solidFill>
                <a:latin typeface="Segoe UI"/>
              </a:rPr>
              <a:t>Business rules enforced by the API</a:t>
            </a:r>
          </a:p>
          <a:p>
            <a:pPr>
              <a:spcAft>
                <a:spcPts val="500"/>
              </a:spcAft>
            </a:pPr>
            <a:r>
              <a:rPr sz="1500">
                <a:solidFill>
                  <a:srgbClr val="5C6660"/>
                </a:solidFill>
                <a:latin typeface="Segoe UI"/>
              </a:rPr>
              <a:t>      – </a:t>
            </a:r>
            <a:r>
              <a:rPr sz="1500">
                <a:solidFill>
                  <a:srgbClr val="5C6660"/>
                </a:solidFill>
                <a:latin typeface="Segoe UI"/>
              </a:rPr>
              <a:t>over-dispatch → 422, expired/held lot → 409</a:t>
            </a:r>
          </a:p>
          <a:p>
            <a:pPr>
              <a:spcAft>
                <a:spcPts val="500"/>
              </a:spcAft>
            </a:pPr>
            <a:r>
              <a:rPr sz="1500">
                <a:solidFill>
                  <a:srgbClr val="5C6660"/>
                </a:solidFill>
                <a:latin typeface="Segoe UI"/>
              </a:rPr>
              <a:t>      – </a:t>
            </a:r>
            <a:r>
              <a:rPr sz="1500">
                <a:solidFill>
                  <a:srgbClr val="5C6660"/>
                </a:solidFill>
                <a:latin typeface="Segoe UI"/>
              </a:rPr>
              <a:t>lot with dispatch history cannot be deleted → 409</a:t>
            </a:r>
          </a:p>
          <a:p>
            <a:pPr>
              <a:spcAft>
                <a:spcPts val="500"/>
              </a:spcAft>
            </a:pPr>
            <a:r>
              <a:rPr sz="1500">
                <a:solidFill>
                  <a:srgbClr val="5C6660"/>
                </a:solidFill>
                <a:latin typeface="Segoe UI"/>
              </a:rPr>
              <a:t>      – </a:t>
            </a:r>
            <a:r>
              <a:rPr sz="1500">
                <a:solidFill>
                  <a:srgbClr val="5C6660"/>
                </a:solidFill>
                <a:latin typeface="Segoe UI"/>
              </a:rPr>
              <a:t>voiding a dispatch restores the quantity</a:t>
            </a:r>
          </a:p>
          <a:p>
            <a:pPr>
              <a:spcAft>
                <a:spcPts val="900"/>
              </a:spcAft>
            </a:pPr>
            <a:r>
              <a:rPr sz="1100">
                <a:solidFill>
                  <a:srgbClr val="1F5F46"/>
                </a:solidFill>
                <a:latin typeface="Segoe UI"/>
              </a:rPr>
              <a:t>■  </a:t>
            </a:r>
            <a:r>
              <a:rPr sz="1700">
                <a:solidFill>
                  <a:srgbClr val="1D2420"/>
                </a:solidFill>
                <a:latin typeface="Segoe UI"/>
              </a:rPr>
              <a:t>Version badge shows the deployed commit SHA</a:t>
            </a:r>
          </a:p>
        </p:txBody>
      </p:sp>
      <p:pic>
        <p:nvPicPr>
          <p:cNvPr id="8" name="Picture 7" descr="m8-app-through-ingress.png"/>
          <p:cNvPicPr>
            <a:picLocks noChangeAspect="1"/>
          </p:cNvPicPr>
          <p:nvPr/>
        </p:nvPicPr>
        <p:blipFill>
          <a:blip r:embed="rId3"/>
          <a:stretch>
            <a:fillRect/>
          </a:stretch>
        </p:blipFill>
        <p:spPr>
          <a:xfrm>
            <a:off x="5669280" y="1417320"/>
            <a:ext cx="3944997" cy="4846320"/>
          </a:xfrm>
          <a:prstGeom prst="rect">
            <a:avLst/>
          </a:prstGeom>
          <a:ln w="12700">
            <a:solidFill>
              <a:srgbClr val="CFC8B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ARCHITECTURE</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Three tiers, one chart, many gates</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3 / 15</a:t>
            </a:r>
          </a:p>
        </p:txBody>
      </p:sp>
      <p:sp>
        <p:nvSpPr>
          <p:cNvPr id="7" name="Rounded Rectangle 6"/>
          <p:cNvSpPr/>
          <p:nvPr/>
        </p:nvSpPr>
        <p:spPr>
          <a:xfrm>
            <a:off x="548640" y="2788920"/>
            <a:ext cx="1280160" cy="73152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Browser</a:t>
            </a:r>
          </a:p>
        </p:txBody>
      </p:sp>
      <p:sp>
        <p:nvSpPr>
          <p:cNvPr id="8" name="Rounded Rectangle 7"/>
          <p:cNvSpPr/>
          <p:nvPr/>
        </p:nvSpPr>
        <p:spPr>
          <a:xfrm>
            <a:off x="2286000" y="2788920"/>
            <a:ext cx="1554480" cy="731520"/>
          </a:xfrm>
          <a:prstGeom prst="roundRect">
            <a:avLst>
              <a:gd name="adj" fmla="val 12000"/>
            </a:avLst>
          </a:prstGeom>
          <a:solidFill>
            <a:srgbClr val="DDEAE2"/>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Traefik</a:t>
            </a:r>
          </a:p>
          <a:p>
            <a:pPr algn="ctr"/>
            <a:r>
              <a:rPr sz="1100" b="0">
                <a:solidFill>
                  <a:srgbClr val="5C6660"/>
                </a:solidFill>
                <a:latin typeface="Segoe UI"/>
              </a:rPr>
              <a:t>Ingress</a:t>
            </a:r>
          </a:p>
        </p:txBody>
      </p:sp>
      <p:sp>
        <p:nvSpPr>
          <p:cNvPr id="9" name="Rounded Rectangle 8"/>
          <p:cNvSpPr/>
          <p:nvPr/>
        </p:nvSpPr>
        <p:spPr>
          <a:xfrm>
            <a:off x="4206240" y="1463040"/>
            <a:ext cx="4572000" cy="3657600"/>
          </a:xfrm>
          <a:prstGeom prst="roundRect">
            <a:avLst>
              <a:gd name="adj" fmla="val 12000"/>
            </a:avLst>
          </a:prstGeom>
          <a:solidFill>
            <a:srgbClr val="FBF8F1"/>
          </a:solidFill>
          <a:ln w="15875">
            <a:solidFill>
              <a:srgbClr val="5C66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1508760"/>
            <a:ext cx="438912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namespace pantrypulse · Pod Security restricted</a:t>
            </a:r>
          </a:p>
        </p:txBody>
      </p:sp>
      <p:sp>
        <p:nvSpPr>
          <p:cNvPr id="11" name="Rounded Rectangle 10"/>
          <p:cNvSpPr/>
          <p:nvPr/>
        </p:nvSpPr>
        <p:spPr>
          <a:xfrm>
            <a:off x="4572000" y="1920240"/>
            <a:ext cx="1737360" cy="82296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frontend ×2–4</a:t>
            </a:r>
          </a:p>
          <a:p>
            <a:pPr algn="ctr"/>
            <a:r>
              <a:rPr sz="1100" b="0">
                <a:solidFill>
                  <a:srgbClr val="5C6660"/>
                </a:solidFill>
                <a:latin typeface="Segoe UI"/>
              </a:rPr>
              <a:t>nginx + React</a:t>
            </a:r>
          </a:p>
        </p:txBody>
      </p:sp>
      <p:sp>
        <p:nvSpPr>
          <p:cNvPr id="12" name="Rounded Rectangle 11"/>
          <p:cNvSpPr/>
          <p:nvPr/>
        </p:nvSpPr>
        <p:spPr>
          <a:xfrm>
            <a:off x="4572000" y="3246120"/>
            <a:ext cx="1737360" cy="82296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backend ×2–5</a:t>
            </a:r>
          </a:p>
          <a:p>
            <a:pPr algn="ctr"/>
            <a:r>
              <a:rPr sz="1100" b="0">
                <a:solidFill>
                  <a:srgbClr val="5C6660"/>
                </a:solidFill>
                <a:latin typeface="Segoe UI"/>
              </a:rPr>
              <a:t>FastAPI</a:t>
            </a:r>
          </a:p>
        </p:txBody>
      </p:sp>
      <p:sp>
        <p:nvSpPr>
          <p:cNvPr id="13" name="Rounded Rectangle 12"/>
          <p:cNvSpPr/>
          <p:nvPr/>
        </p:nvSpPr>
        <p:spPr>
          <a:xfrm>
            <a:off x="6949440" y="3246120"/>
            <a:ext cx="1554480" cy="822960"/>
          </a:xfrm>
          <a:prstGeom prst="roundRect">
            <a:avLst>
              <a:gd name="adj" fmla="val 12000"/>
            </a:avLst>
          </a:prstGeom>
          <a:solidFill>
            <a:srgbClr val="DDEAE2"/>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PostgreSQL 17</a:t>
            </a:r>
          </a:p>
          <a:p>
            <a:pPr algn="ctr"/>
            <a:r>
              <a:rPr sz="1100" b="0">
                <a:solidFill>
                  <a:srgbClr val="5C6660"/>
                </a:solidFill>
                <a:latin typeface="Segoe UI"/>
              </a:rPr>
              <a:t>StatefulSet+PVC</a:t>
            </a:r>
          </a:p>
        </p:txBody>
      </p:sp>
      <p:sp>
        <p:nvSpPr>
          <p:cNvPr id="14" name="Rounded Rectangle 13"/>
          <p:cNvSpPr/>
          <p:nvPr/>
        </p:nvSpPr>
        <p:spPr>
          <a:xfrm>
            <a:off x="6949440" y="1920240"/>
            <a:ext cx="1554480" cy="82296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migrate Job</a:t>
            </a:r>
          </a:p>
          <a:p>
            <a:pPr algn="ctr"/>
            <a:r>
              <a:rPr sz="1100" b="0">
                <a:solidFill>
                  <a:srgbClr val="5C6660"/>
                </a:solidFill>
                <a:latin typeface="Segoe UI"/>
              </a:rPr>
              <a:t>alembic</a:t>
            </a:r>
          </a:p>
        </p:txBody>
      </p:sp>
      <p:sp>
        <p:nvSpPr>
          <p:cNvPr id="15" name="Rounded Rectangle 14"/>
          <p:cNvSpPr/>
          <p:nvPr/>
        </p:nvSpPr>
        <p:spPr>
          <a:xfrm>
            <a:off x="4572000" y="4343400"/>
            <a:ext cx="3931920" cy="502920"/>
          </a:xfrm>
          <a:prstGeom prst="roundRect">
            <a:avLst>
              <a:gd name="adj" fmla="val 12000"/>
            </a:avLst>
          </a:prstGeom>
          <a:solidFill>
            <a:srgbClr val="FFF4E0"/>
          </a:solidFill>
          <a:ln w="15875">
            <a:solidFill>
              <a:srgbClr val="C97B1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0">
                <a:solidFill>
                  <a:srgbClr val="1D2420"/>
                </a:solidFill>
                <a:latin typeface="Segoe UI"/>
              </a:rPr>
              <a:t>HPA (CPU) · PDB · NetworkPolicy · ServiceMonitor</a:t>
            </a:r>
          </a:p>
        </p:txBody>
      </p:sp>
      <p:cxnSp>
        <p:nvCxnSpPr>
          <p:cNvPr id="16" name="Connector 15"/>
          <p:cNvCxnSpPr/>
          <p:nvPr/>
        </p:nvCxnSpPr>
        <p:spPr>
          <a:xfrm>
            <a:off x="1828800" y="3154680"/>
            <a:ext cx="457200" cy="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840480" y="2331720"/>
            <a:ext cx="731520" cy="68580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840480" y="3291840"/>
            <a:ext cx="731520" cy="36576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309360" y="3657600"/>
            <a:ext cx="640080" cy="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726679" y="2743200"/>
            <a:ext cx="0" cy="50292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35440" y="1463040"/>
            <a:ext cx="2468880" cy="73152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GitHub Actions</a:t>
            </a:r>
          </a:p>
          <a:p>
            <a:pPr algn="ctr"/>
            <a:r>
              <a:rPr sz="1100" b="0">
                <a:solidFill>
                  <a:srgbClr val="5C6660"/>
                </a:solidFill>
                <a:latin typeface="Segoe UI"/>
              </a:rPr>
              <a:t>tests · scans · build</a:t>
            </a:r>
          </a:p>
        </p:txBody>
      </p:sp>
      <p:sp>
        <p:nvSpPr>
          <p:cNvPr id="22" name="Rounded Rectangle 21"/>
          <p:cNvSpPr/>
          <p:nvPr/>
        </p:nvSpPr>
        <p:spPr>
          <a:xfrm>
            <a:off x="9235440" y="2514600"/>
            <a:ext cx="2468880" cy="731520"/>
          </a:xfrm>
          <a:prstGeom prst="roundRect">
            <a:avLst>
              <a:gd name="adj" fmla="val 12000"/>
            </a:avLst>
          </a:prstGeom>
          <a:solidFill>
            <a:srgbClr val="DDEAE2"/>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GHCR</a:t>
            </a:r>
          </a:p>
          <a:p>
            <a:pPr algn="ctr"/>
            <a:r>
              <a:rPr sz="1100" b="0">
                <a:solidFill>
                  <a:srgbClr val="5C6660"/>
                </a:solidFill>
                <a:latin typeface="Segoe UI"/>
              </a:rPr>
              <a:t>:&lt;commit-sha&gt; only</a:t>
            </a:r>
          </a:p>
        </p:txBody>
      </p:sp>
      <p:sp>
        <p:nvSpPr>
          <p:cNvPr id="23" name="Rounded Rectangle 22"/>
          <p:cNvSpPr/>
          <p:nvPr/>
        </p:nvSpPr>
        <p:spPr>
          <a:xfrm>
            <a:off x="9235440" y="3566160"/>
            <a:ext cx="2468880" cy="73152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Argo CD</a:t>
            </a:r>
          </a:p>
          <a:p>
            <a:pPr algn="ctr"/>
            <a:r>
              <a:rPr sz="1100" b="0">
                <a:solidFill>
                  <a:srgbClr val="5C6660"/>
                </a:solidFill>
                <a:latin typeface="Segoe UI"/>
              </a:rPr>
              <a:t>syncs Git → cluster</a:t>
            </a:r>
          </a:p>
        </p:txBody>
      </p:sp>
      <p:sp>
        <p:nvSpPr>
          <p:cNvPr id="24" name="Rounded Rectangle 23"/>
          <p:cNvSpPr/>
          <p:nvPr/>
        </p:nvSpPr>
        <p:spPr>
          <a:xfrm>
            <a:off x="9235440" y="4617720"/>
            <a:ext cx="2468880" cy="73152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Prometheus + Grafana</a:t>
            </a:r>
          </a:p>
          <a:p>
            <a:pPr algn="ctr"/>
            <a:r>
              <a:rPr sz="1100" b="0">
                <a:solidFill>
                  <a:srgbClr val="5C6660"/>
                </a:solidFill>
                <a:latin typeface="Segoe UI"/>
              </a:rPr>
              <a:t>metrics · dashboard</a:t>
            </a:r>
          </a:p>
        </p:txBody>
      </p:sp>
      <p:cxnSp>
        <p:nvCxnSpPr>
          <p:cNvPr id="25" name="Connector 24"/>
          <p:cNvCxnSpPr/>
          <p:nvPr/>
        </p:nvCxnSpPr>
        <p:spPr>
          <a:xfrm>
            <a:off x="10469880" y="2194560"/>
            <a:ext cx="0" cy="32004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8778240" y="3931920"/>
            <a:ext cx="457200" cy="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8503920" y="4617720"/>
            <a:ext cx="731520" cy="36576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5623560"/>
            <a:ext cx="10972800" cy="548640"/>
          </a:xfrm>
          <a:prstGeom prst="rect">
            <a:avLst/>
          </a:prstGeom>
          <a:noFill/>
        </p:spPr>
        <p:txBody>
          <a:bodyPr wrap="square" anchor="t" lIns="45720" rIns="45720">
            <a:spAutoFit/>
          </a:bodyPr>
          <a:lstStyle/>
          <a:p>
            <a:pPr algn="l">
              <a:spcAft>
                <a:spcPts val="600"/>
              </a:spcAft>
            </a:pPr>
            <a:r>
              <a:rPr sz="1400" b="0">
                <a:solidFill>
                  <a:srgbClr val="5C6660"/>
                </a:solidFill>
                <a:latin typeface="Segoe UI"/>
              </a:rPr>
              <a:t>Same Helm chart everywhere: CI's throwaway kind cluster, the local GitOps environment, and the EKS profile (values-eks.yaml).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TECHNOLOGY</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Stack and why</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4 / 15</a:t>
            </a:r>
          </a:p>
        </p:txBody>
      </p:sp>
      <p:sp>
        <p:nvSpPr>
          <p:cNvPr id="7" name="Rounded Rectangle 6"/>
          <p:cNvSpPr/>
          <p:nvPr/>
        </p:nvSpPr>
        <p:spPr>
          <a:xfrm>
            <a:off x="548640" y="1581912"/>
            <a:ext cx="137160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App</a:t>
            </a:r>
          </a:p>
        </p:txBody>
      </p:sp>
      <p:sp>
        <p:nvSpPr>
          <p:cNvPr id="8" name="TextBox 7"/>
          <p:cNvSpPr txBox="1"/>
          <p:nvPr/>
        </p:nvSpPr>
        <p:spPr>
          <a:xfrm>
            <a:off x="2103120" y="1554480"/>
            <a:ext cx="9509760" cy="457200"/>
          </a:xfrm>
          <a:prstGeom prst="rect">
            <a:avLst/>
          </a:prstGeom>
          <a:noFill/>
        </p:spPr>
        <p:txBody>
          <a:bodyPr wrap="square" anchor="t" lIns="45720" rIns="45720">
            <a:spAutoFit/>
          </a:bodyPr>
          <a:lstStyle/>
          <a:p>
            <a:pPr algn="l">
              <a:spcAft>
                <a:spcPts val="600"/>
              </a:spcAft>
            </a:pPr>
            <a:r>
              <a:rPr sz="1800" b="0">
                <a:solidFill>
                  <a:srgbClr val="1D2420"/>
                </a:solidFill>
                <a:latin typeface="Segoe UI"/>
              </a:rPr>
              <a:t>FastAPI · SQLAlchemy 2 · Alembic · React 19 + Vite · PostgreSQL 17</a:t>
            </a:r>
          </a:p>
        </p:txBody>
      </p:sp>
      <p:sp>
        <p:nvSpPr>
          <p:cNvPr id="9" name="Rounded Rectangle 8"/>
          <p:cNvSpPr/>
          <p:nvPr/>
        </p:nvSpPr>
        <p:spPr>
          <a:xfrm>
            <a:off x="548640" y="2295144"/>
            <a:ext cx="137160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Quality</a:t>
            </a:r>
          </a:p>
        </p:txBody>
      </p:sp>
      <p:sp>
        <p:nvSpPr>
          <p:cNvPr id="10" name="TextBox 9"/>
          <p:cNvSpPr txBox="1"/>
          <p:nvPr/>
        </p:nvSpPr>
        <p:spPr>
          <a:xfrm>
            <a:off x="2103120" y="2267711"/>
            <a:ext cx="9509760" cy="457200"/>
          </a:xfrm>
          <a:prstGeom prst="rect">
            <a:avLst/>
          </a:prstGeom>
          <a:noFill/>
        </p:spPr>
        <p:txBody>
          <a:bodyPr wrap="square" anchor="t" lIns="45720" rIns="45720">
            <a:spAutoFit/>
          </a:bodyPr>
          <a:lstStyle/>
          <a:p>
            <a:pPr algn="l">
              <a:spcAft>
                <a:spcPts val="600"/>
              </a:spcAft>
            </a:pPr>
            <a:r>
              <a:rPr sz="1800" b="0">
                <a:solidFill>
                  <a:srgbClr val="1D2420"/>
                </a:solidFill>
                <a:latin typeface="Segoe UI"/>
              </a:rPr>
              <a:t>pytest (89% cov) · vitest · ruff · eslint/prettier</a:t>
            </a:r>
          </a:p>
        </p:txBody>
      </p:sp>
      <p:sp>
        <p:nvSpPr>
          <p:cNvPr id="11" name="Rounded Rectangle 10"/>
          <p:cNvSpPr/>
          <p:nvPr/>
        </p:nvSpPr>
        <p:spPr>
          <a:xfrm>
            <a:off x="548640" y="3008376"/>
            <a:ext cx="137160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Security</a:t>
            </a:r>
          </a:p>
        </p:txBody>
      </p:sp>
      <p:sp>
        <p:nvSpPr>
          <p:cNvPr id="12" name="TextBox 11"/>
          <p:cNvSpPr txBox="1"/>
          <p:nvPr/>
        </p:nvSpPr>
        <p:spPr>
          <a:xfrm>
            <a:off x="2103120" y="2980944"/>
            <a:ext cx="9509760" cy="457200"/>
          </a:xfrm>
          <a:prstGeom prst="rect">
            <a:avLst/>
          </a:prstGeom>
          <a:noFill/>
        </p:spPr>
        <p:txBody>
          <a:bodyPr wrap="square" anchor="t" lIns="45720" rIns="45720">
            <a:spAutoFit/>
          </a:bodyPr>
          <a:lstStyle/>
          <a:p>
            <a:pPr algn="l">
              <a:spcAft>
                <a:spcPts val="600"/>
              </a:spcAft>
            </a:pPr>
            <a:r>
              <a:rPr sz="1800" b="0">
                <a:solidFill>
                  <a:srgbClr val="1D2420"/>
                </a:solidFill>
                <a:latin typeface="Segoe UI"/>
              </a:rPr>
              <a:t>bandit · pip-audit · npm audit · gitleaks · Trivy image + IaC · SBOM · provenance</a:t>
            </a:r>
          </a:p>
        </p:txBody>
      </p:sp>
      <p:sp>
        <p:nvSpPr>
          <p:cNvPr id="13" name="Rounded Rectangle 12"/>
          <p:cNvSpPr/>
          <p:nvPr/>
        </p:nvSpPr>
        <p:spPr>
          <a:xfrm>
            <a:off x="548640" y="3721607"/>
            <a:ext cx="137160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Delivery</a:t>
            </a:r>
          </a:p>
        </p:txBody>
      </p:sp>
      <p:sp>
        <p:nvSpPr>
          <p:cNvPr id="14" name="TextBox 13"/>
          <p:cNvSpPr txBox="1"/>
          <p:nvPr/>
        </p:nvSpPr>
        <p:spPr>
          <a:xfrm>
            <a:off x="2103120" y="3694176"/>
            <a:ext cx="9509760" cy="457200"/>
          </a:xfrm>
          <a:prstGeom prst="rect">
            <a:avLst/>
          </a:prstGeom>
          <a:noFill/>
        </p:spPr>
        <p:txBody>
          <a:bodyPr wrap="square" anchor="t" lIns="45720" rIns="45720">
            <a:spAutoFit/>
          </a:bodyPr>
          <a:lstStyle/>
          <a:p>
            <a:pPr algn="l">
              <a:spcAft>
                <a:spcPts val="600"/>
              </a:spcAft>
            </a:pPr>
            <a:r>
              <a:rPr sz="1800" b="0">
                <a:solidFill>
                  <a:srgbClr val="1D2420"/>
                </a:solidFill>
                <a:latin typeface="Segoe UI"/>
              </a:rPr>
              <a:t>Docker multi-stage · GitHub Actions · GHCR (SHA tags) · Argo CD</a:t>
            </a:r>
          </a:p>
        </p:txBody>
      </p:sp>
      <p:sp>
        <p:nvSpPr>
          <p:cNvPr id="15" name="Rounded Rectangle 14"/>
          <p:cNvSpPr/>
          <p:nvPr/>
        </p:nvSpPr>
        <p:spPr>
          <a:xfrm>
            <a:off x="548640" y="4434840"/>
            <a:ext cx="137160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Platform</a:t>
            </a:r>
          </a:p>
        </p:txBody>
      </p:sp>
      <p:sp>
        <p:nvSpPr>
          <p:cNvPr id="16" name="TextBox 15"/>
          <p:cNvSpPr txBox="1"/>
          <p:nvPr/>
        </p:nvSpPr>
        <p:spPr>
          <a:xfrm>
            <a:off x="2103120" y="4407407"/>
            <a:ext cx="9509760" cy="457200"/>
          </a:xfrm>
          <a:prstGeom prst="rect">
            <a:avLst/>
          </a:prstGeom>
          <a:noFill/>
        </p:spPr>
        <p:txBody>
          <a:bodyPr wrap="square" anchor="t" lIns="45720" rIns="45720">
            <a:spAutoFit/>
          </a:bodyPr>
          <a:lstStyle/>
          <a:p>
            <a:pPr algn="l">
              <a:spcAft>
                <a:spcPts val="600"/>
              </a:spcAft>
            </a:pPr>
            <a:r>
              <a:rPr sz="1800" b="0">
                <a:solidFill>
                  <a:srgbClr val="1D2420"/>
                </a:solidFill>
                <a:latin typeface="Segoe UI"/>
              </a:rPr>
              <a:t>Terraform → AWS VPC + EKS 1.35 · kind 1.37 · Helm 4 · Traefik 3.7 · HPA</a:t>
            </a:r>
          </a:p>
        </p:txBody>
      </p:sp>
      <p:sp>
        <p:nvSpPr>
          <p:cNvPr id="17" name="Rounded Rectangle 16"/>
          <p:cNvSpPr/>
          <p:nvPr/>
        </p:nvSpPr>
        <p:spPr>
          <a:xfrm>
            <a:off x="548640" y="5148072"/>
            <a:ext cx="137160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Observe</a:t>
            </a:r>
          </a:p>
        </p:txBody>
      </p:sp>
      <p:sp>
        <p:nvSpPr>
          <p:cNvPr id="18" name="TextBox 17"/>
          <p:cNvSpPr txBox="1"/>
          <p:nvPr/>
        </p:nvSpPr>
        <p:spPr>
          <a:xfrm>
            <a:off x="2103120" y="5120640"/>
            <a:ext cx="9509760" cy="457200"/>
          </a:xfrm>
          <a:prstGeom prst="rect">
            <a:avLst/>
          </a:prstGeom>
          <a:noFill/>
        </p:spPr>
        <p:txBody>
          <a:bodyPr wrap="square" anchor="t" lIns="45720" rIns="45720">
            <a:spAutoFit/>
          </a:bodyPr>
          <a:lstStyle/>
          <a:p>
            <a:pPr algn="l">
              <a:spcAft>
                <a:spcPts val="600"/>
              </a:spcAft>
            </a:pPr>
            <a:r>
              <a:rPr sz="1800" b="0">
                <a:solidFill>
                  <a:srgbClr val="1D2420"/>
                </a:solidFill>
                <a:latin typeface="Segoe UI"/>
              </a:rPr>
              <a:t>Prometheus · Grafana 13 · ServiceMonitor · JSON logs</a:t>
            </a:r>
          </a:p>
        </p:txBody>
      </p:sp>
      <p:sp>
        <p:nvSpPr>
          <p:cNvPr id="19" name="TextBox 18"/>
          <p:cNvSpPr txBox="1"/>
          <p:nvPr/>
        </p:nvSpPr>
        <p:spPr>
          <a:xfrm>
            <a:off x="548640" y="5806440"/>
            <a:ext cx="10972800" cy="457200"/>
          </a:xfrm>
          <a:prstGeom prst="rect">
            <a:avLst/>
          </a:prstGeom>
          <a:noFill/>
        </p:spPr>
        <p:txBody>
          <a:bodyPr wrap="square" anchor="t" lIns="45720" rIns="45720">
            <a:spAutoFit/>
          </a:bodyPr>
          <a:lstStyle/>
          <a:p>
            <a:pPr algn="l">
              <a:spcAft>
                <a:spcPts val="600"/>
              </a:spcAft>
            </a:pPr>
            <a:r>
              <a:rPr sz="1400" b="1">
                <a:solidFill>
                  <a:srgbClr val="C97B12"/>
                </a:solidFill>
                <a:latin typeface="Segoe UI"/>
              </a:rPr>
              <a:t>7 ADRs · e.g. Traefik instead of ingress-nginx (retired upstream March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M2 · M4</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Tests, quality and containers</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5 / 15</a:t>
            </a:r>
          </a:p>
        </p:txBody>
      </p:sp>
      <p:sp>
        <p:nvSpPr>
          <p:cNvPr id="7" name="TextBox 6"/>
          <p:cNvSpPr txBox="1"/>
          <p:nvPr/>
        </p:nvSpPr>
        <p:spPr>
          <a:xfrm>
            <a:off x="548640" y="1463040"/>
            <a:ext cx="4937760" cy="4572000"/>
          </a:xfrm>
          <a:prstGeom prst="rect">
            <a:avLst/>
          </a:prstGeom>
          <a:noFill/>
        </p:spPr>
        <p:txBody>
          <a:bodyPr wrap="square">
            <a:spAutoFit/>
          </a:bodyPr>
          <a:lstStyle/>
          <a:p>
            <a:pPr>
              <a:spcAft>
                <a:spcPts val="900"/>
              </a:spcAft>
            </a:pPr>
            <a:r>
              <a:rPr sz="1100">
                <a:solidFill>
                  <a:srgbClr val="1F5F46"/>
                </a:solidFill>
                <a:latin typeface="Segoe UI"/>
              </a:rPr>
              <a:t>■  </a:t>
            </a:r>
            <a:r>
              <a:rPr sz="1700">
                <a:solidFill>
                  <a:srgbClr val="1D2420"/>
                </a:solidFill>
                <a:latin typeface="Segoe UI"/>
              </a:rPr>
              <a:t>33 pytest + 2 PostgreSQL integration tests, 89% coverage</a:t>
            </a:r>
          </a:p>
          <a:p>
            <a:pPr>
              <a:spcAft>
                <a:spcPts val="500"/>
              </a:spcAft>
            </a:pPr>
            <a:r>
              <a:rPr sz="1500">
                <a:solidFill>
                  <a:srgbClr val="5C6660"/>
                </a:solidFill>
                <a:latin typeface="Segoe UI"/>
              </a:rPr>
              <a:t>      – </a:t>
            </a:r>
            <a:r>
              <a:rPr sz="1500">
                <a:solidFill>
                  <a:srgbClr val="5C6660"/>
                </a:solidFill>
                <a:latin typeface="Segoe UI"/>
              </a:rPr>
              <a:t>SQLite in-memory via dependency override; never the real DB</a:t>
            </a:r>
          </a:p>
          <a:p>
            <a:pPr>
              <a:spcAft>
                <a:spcPts val="900"/>
              </a:spcAft>
            </a:pPr>
            <a:r>
              <a:rPr sz="1100">
                <a:solidFill>
                  <a:srgbClr val="1F5F46"/>
                </a:solidFill>
                <a:latin typeface="Segoe UI"/>
              </a:rPr>
              <a:t>■  </a:t>
            </a:r>
            <a:r>
              <a:rPr sz="1700">
                <a:solidFill>
                  <a:srgbClr val="1D2420"/>
                </a:solidFill>
                <a:latin typeface="Segoe UI"/>
              </a:rPr>
              <a:t>15 vitest tests for the UI</a:t>
            </a:r>
          </a:p>
          <a:p>
            <a:pPr>
              <a:spcAft>
                <a:spcPts val="900"/>
              </a:spcAft>
            </a:pPr>
            <a:r>
              <a:rPr sz="1100">
                <a:solidFill>
                  <a:srgbClr val="1F5F46"/>
                </a:solidFill>
                <a:latin typeface="Segoe UI"/>
              </a:rPr>
              <a:t>■  </a:t>
            </a:r>
            <a:r>
              <a:rPr sz="1700">
                <a:solidFill>
                  <a:srgbClr val="1D2420"/>
                </a:solidFill>
                <a:latin typeface="Segoe UI"/>
              </a:rPr>
              <a:t>Backend: python:3.12-slim-trixie, 2-stage, UID 10001</a:t>
            </a:r>
          </a:p>
          <a:p>
            <a:pPr>
              <a:spcAft>
                <a:spcPts val="900"/>
              </a:spcAft>
            </a:pPr>
            <a:r>
              <a:rPr sz="1100">
                <a:solidFill>
                  <a:srgbClr val="1F5F46"/>
                </a:solidFill>
                <a:latin typeface="Segoe UI"/>
              </a:rPr>
              <a:t>■  </a:t>
            </a:r>
            <a:r>
              <a:rPr sz="1700">
                <a:solidFill>
                  <a:srgbClr val="1D2420"/>
                </a:solidFill>
                <a:latin typeface="Segoe UI"/>
              </a:rPr>
              <a:t>Frontend: Node build → nginx-unprivileged, UID 101</a:t>
            </a:r>
          </a:p>
          <a:p>
            <a:pPr>
              <a:spcAft>
                <a:spcPts val="900"/>
              </a:spcAft>
            </a:pPr>
            <a:r>
              <a:rPr sz="1100">
                <a:solidFill>
                  <a:srgbClr val="1F5F46"/>
                </a:solidFill>
                <a:latin typeface="Segoe UI"/>
              </a:rPr>
              <a:t>■  </a:t>
            </a:r>
            <a:r>
              <a:rPr sz="1700">
                <a:solidFill>
                  <a:srgbClr val="1D2420"/>
                </a:solidFill>
                <a:latin typeface="Segoe UI"/>
              </a:rPr>
              <a:t>Compose: health-gated start, named volume, migrations + seed</a:t>
            </a:r>
          </a:p>
        </p:txBody>
      </p:sp>
      <p:pic>
        <p:nvPicPr>
          <p:cNvPr id="8" name="Picture 7" descr="m2-pytest-passing.png"/>
          <p:cNvPicPr>
            <a:picLocks noChangeAspect="1"/>
          </p:cNvPicPr>
          <p:nvPr/>
        </p:nvPicPr>
        <p:blipFill>
          <a:blip r:embed="rId3"/>
          <a:stretch>
            <a:fillRect/>
          </a:stretch>
        </p:blipFill>
        <p:spPr>
          <a:xfrm>
            <a:off x="5760720" y="1417320"/>
            <a:ext cx="3537747" cy="4846320"/>
          </a:xfrm>
          <a:prstGeom prst="rect">
            <a:avLst/>
          </a:prstGeom>
          <a:ln w="12700">
            <a:solidFill>
              <a:srgbClr val="CFC8B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M5</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CI/CD: nothing ships unless every gate passes</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6 / 15</a:t>
            </a:r>
          </a:p>
        </p:txBody>
      </p:sp>
      <p:sp>
        <p:nvSpPr>
          <p:cNvPr id="7" name="Rounded Rectangle 6"/>
          <p:cNvSpPr/>
          <p:nvPr/>
        </p:nvSpPr>
        <p:spPr>
          <a:xfrm>
            <a:off x="548640" y="1508760"/>
            <a:ext cx="2286000" cy="73152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backend</a:t>
            </a:r>
          </a:p>
          <a:p>
            <a:pPr algn="ctr"/>
            <a:r>
              <a:rPr sz="1100" b="0">
                <a:solidFill>
                  <a:srgbClr val="5C6660"/>
                </a:solidFill>
                <a:latin typeface="Segoe UI"/>
              </a:rPr>
              <a:t>ruff · bandit · pip-audit</a:t>
            </a:r>
          </a:p>
          <a:p>
            <a:pPr algn="ctr"/>
            <a:r>
              <a:rPr sz="1100" b="0">
                <a:solidFill>
                  <a:srgbClr val="5C6660"/>
                </a:solidFill>
                <a:latin typeface="Segoe UI"/>
              </a:rPr>
              <a:t>pytest + Postgres</a:t>
            </a:r>
          </a:p>
        </p:txBody>
      </p:sp>
      <p:cxnSp>
        <p:nvCxnSpPr>
          <p:cNvPr id="8" name="Connector 7"/>
          <p:cNvCxnSpPr/>
          <p:nvPr/>
        </p:nvCxnSpPr>
        <p:spPr>
          <a:xfrm>
            <a:off x="2834640" y="1874519"/>
            <a:ext cx="411480" cy="1280161"/>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377439"/>
            <a:ext cx="2286000" cy="73152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frontend</a:t>
            </a:r>
          </a:p>
          <a:p>
            <a:pPr algn="ctr"/>
            <a:r>
              <a:rPr sz="1100" b="0">
                <a:solidFill>
                  <a:srgbClr val="5C6660"/>
                </a:solidFill>
                <a:latin typeface="Segoe UI"/>
              </a:rPr>
              <a:t>eslint · vitest</a:t>
            </a:r>
          </a:p>
          <a:p>
            <a:pPr algn="ctr"/>
            <a:r>
              <a:rPr sz="1100" b="0">
                <a:solidFill>
                  <a:srgbClr val="5C6660"/>
                </a:solidFill>
                <a:latin typeface="Segoe UI"/>
              </a:rPr>
              <a:t>npm audit · build</a:t>
            </a:r>
          </a:p>
        </p:txBody>
      </p:sp>
      <p:cxnSp>
        <p:nvCxnSpPr>
          <p:cNvPr id="10" name="Connector 9"/>
          <p:cNvCxnSpPr/>
          <p:nvPr/>
        </p:nvCxnSpPr>
        <p:spPr>
          <a:xfrm>
            <a:off x="2834640" y="2743200"/>
            <a:ext cx="411480" cy="41148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3246120"/>
            <a:ext cx="2286000" cy="73152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secret-scan</a:t>
            </a:r>
          </a:p>
          <a:p>
            <a:pPr algn="ctr"/>
            <a:r>
              <a:rPr sz="1100" b="0">
                <a:solidFill>
                  <a:srgbClr val="5C6660"/>
                </a:solidFill>
                <a:latin typeface="Segoe UI"/>
              </a:rPr>
              <a:t>gitleaks</a:t>
            </a:r>
          </a:p>
          <a:p>
            <a:pPr algn="ctr"/>
            <a:r>
              <a:rPr sz="1100" b="0">
                <a:solidFill>
                  <a:srgbClr val="5C6660"/>
                </a:solidFill>
                <a:latin typeface="Segoe UI"/>
              </a:rPr>
              <a:t>full history</a:t>
            </a:r>
          </a:p>
        </p:txBody>
      </p:sp>
      <p:cxnSp>
        <p:nvCxnSpPr>
          <p:cNvPr id="12" name="Connector 11"/>
          <p:cNvCxnSpPr/>
          <p:nvPr/>
        </p:nvCxnSpPr>
        <p:spPr>
          <a:xfrm flipV="1">
            <a:off x="2834640" y="3154680"/>
            <a:ext cx="411480" cy="457199"/>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4114800"/>
            <a:ext cx="2286000" cy="73152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iac</a:t>
            </a:r>
          </a:p>
          <a:p>
            <a:pPr algn="ctr"/>
            <a:r>
              <a:rPr sz="1100" b="0">
                <a:solidFill>
                  <a:srgbClr val="5C6660"/>
                </a:solidFill>
                <a:latin typeface="Segoe UI"/>
              </a:rPr>
              <a:t>terraform test</a:t>
            </a:r>
          </a:p>
          <a:p>
            <a:pPr algn="ctr"/>
            <a:r>
              <a:rPr sz="1100" b="0">
                <a:solidFill>
                  <a:srgbClr val="5C6660"/>
                </a:solidFill>
                <a:latin typeface="Segoe UI"/>
              </a:rPr>
              <a:t>helm lint · Trivy config</a:t>
            </a:r>
          </a:p>
        </p:txBody>
      </p:sp>
      <p:cxnSp>
        <p:nvCxnSpPr>
          <p:cNvPr id="14" name="Connector 13"/>
          <p:cNvCxnSpPr/>
          <p:nvPr/>
        </p:nvCxnSpPr>
        <p:spPr>
          <a:xfrm flipV="1">
            <a:off x="2834640" y="3154680"/>
            <a:ext cx="411480" cy="1325879"/>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46120" y="2697480"/>
            <a:ext cx="2377440" cy="914400"/>
          </a:xfrm>
          <a:prstGeom prst="roundRect">
            <a:avLst>
              <a:gd name="adj" fmla="val 12000"/>
            </a:avLst>
          </a:prstGeom>
          <a:solidFill>
            <a:srgbClr val="DDEAE2"/>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build-scan-push</a:t>
            </a:r>
          </a:p>
          <a:p>
            <a:pPr algn="ctr"/>
            <a:r>
              <a:rPr sz="1100" b="0">
                <a:solidFill>
                  <a:srgbClr val="5C6660"/>
                </a:solidFill>
                <a:latin typeface="Segoe UI"/>
              </a:rPr>
              <a:t>Trivy gate → GHCR :sha</a:t>
            </a:r>
          </a:p>
          <a:p>
            <a:pPr algn="ctr"/>
            <a:r>
              <a:rPr sz="1100" b="0">
                <a:solidFill>
                  <a:srgbClr val="5C6660"/>
                </a:solidFill>
                <a:latin typeface="Segoe UI"/>
              </a:rPr>
              <a:t>SBOM · provenance</a:t>
            </a:r>
          </a:p>
        </p:txBody>
      </p:sp>
      <p:cxnSp>
        <p:nvCxnSpPr>
          <p:cNvPr id="16" name="Connector 15"/>
          <p:cNvCxnSpPr/>
          <p:nvPr/>
        </p:nvCxnSpPr>
        <p:spPr>
          <a:xfrm>
            <a:off x="5623560" y="3154680"/>
            <a:ext cx="320040" cy="0"/>
          </a:xfrm>
          <a:prstGeom prst="line">
            <a:avLst/>
          </a:prstGeom>
          <a:ln w="19050">
            <a:solidFill>
              <a:srgbClr val="1F5F46"/>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943600" y="2697480"/>
            <a:ext cx="2103120" cy="914400"/>
          </a:xfrm>
          <a:prstGeom prst="roundRect">
            <a:avLst>
              <a:gd name="adj" fmla="val 12000"/>
            </a:avLst>
          </a:prstGeom>
          <a:solidFill>
            <a:srgbClr val="FFFFFF"/>
          </a:solidFill>
          <a:ln w="15875">
            <a:solidFill>
              <a:srgbClr val="1F5F4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D2420"/>
                </a:solidFill>
                <a:latin typeface="Segoe UI"/>
              </a:rPr>
              <a:t>deploy-kind</a:t>
            </a:r>
          </a:p>
          <a:p>
            <a:pPr algn="ctr"/>
            <a:r>
              <a:rPr sz="1100" b="0">
                <a:solidFill>
                  <a:srgbClr val="5C6660"/>
                </a:solidFill>
                <a:latin typeface="Segoe UI"/>
              </a:rPr>
              <a:t>verify attestation</a:t>
            </a:r>
          </a:p>
          <a:p>
            <a:pPr algn="ctr"/>
            <a:r>
              <a:rPr sz="1100" b="0">
                <a:solidFill>
                  <a:srgbClr val="5C6660"/>
                </a:solidFill>
                <a:latin typeface="Segoe UI"/>
              </a:rPr>
              <a:t>helm + smoke test</a:t>
            </a:r>
          </a:p>
        </p:txBody>
      </p:sp>
      <p:pic>
        <p:nvPicPr>
          <p:cNvPr id="18" name="Picture 17" descr="m5-ci-run-all-jobs-green.png"/>
          <p:cNvPicPr>
            <a:picLocks noChangeAspect="1"/>
          </p:cNvPicPr>
          <p:nvPr/>
        </p:nvPicPr>
        <p:blipFill>
          <a:blip r:embed="rId3"/>
          <a:stretch>
            <a:fillRect/>
          </a:stretch>
        </p:blipFill>
        <p:spPr>
          <a:xfrm>
            <a:off x="8275320" y="1417320"/>
            <a:ext cx="3474720" cy="2523998"/>
          </a:xfrm>
          <a:prstGeom prst="rect">
            <a:avLst/>
          </a:prstGeom>
          <a:ln w="12700">
            <a:solidFill>
              <a:srgbClr val="CFC8B8"/>
            </a:solidFill>
          </a:ln>
        </p:spPr>
      </p:pic>
      <p:sp>
        <p:nvSpPr>
          <p:cNvPr id="19" name="TextBox 18"/>
          <p:cNvSpPr txBox="1"/>
          <p:nvPr/>
        </p:nvSpPr>
        <p:spPr>
          <a:xfrm>
            <a:off x="548640" y="5166360"/>
            <a:ext cx="7589520" cy="1097280"/>
          </a:xfrm>
          <a:prstGeom prst="rect">
            <a:avLst/>
          </a:prstGeom>
          <a:noFill/>
        </p:spPr>
        <p:txBody>
          <a:bodyPr wrap="square" anchor="t" lIns="45720" rIns="45720">
            <a:spAutoFit/>
          </a:bodyPr>
          <a:lstStyle/>
          <a:p>
            <a:pPr algn="l">
              <a:spcAft>
                <a:spcPts val="600"/>
              </a:spcAft>
            </a:pPr>
            <a:r>
              <a:rPr sz="1400" b="0">
                <a:solidFill>
                  <a:srgbClr val="5C6660"/>
                </a:solidFill>
                <a:latin typeface="Segoe UI"/>
              </a:rPr>
              <a:t>Run 38298132560: 6/6 green. Run 38282550447 failed for real (Traefik values schema) and was fixed in 54a966e.</a:t>
            </a:r>
          </a:p>
          <a:p>
            <a:pPr algn="l">
              <a:spcAft>
                <a:spcPts val="600"/>
              </a:spcAft>
            </a:pPr>
            <a:r>
              <a:rPr sz="1400" b="1">
                <a:solidFill>
                  <a:srgbClr val="1F5F46"/>
                </a:solidFill>
                <a:latin typeface="Segoe UI"/>
              </a:rPr>
              <a:t>All actions pinned by commit SHA · least-privilege job permissions · PRs never publish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M6</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DevSecOps: a clean Trivy gate, and why it is clean</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7 / 15</a:t>
            </a:r>
          </a:p>
        </p:txBody>
      </p:sp>
      <p:pic>
        <p:nvPicPr>
          <p:cNvPr id="7" name="Picture 6" descr="m6-trivy-gate-ci-log.png"/>
          <p:cNvPicPr>
            <a:picLocks noChangeAspect="1"/>
          </p:cNvPicPr>
          <p:nvPr/>
        </p:nvPicPr>
        <p:blipFill>
          <a:blip r:embed="rId3"/>
          <a:stretch>
            <a:fillRect/>
          </a:stretch>
        </p:blipFill>
        <p:spPr>
          <a:xfrm>
            <a:off x="548640" y="1417320"/>
            <a:ext cx="6766560" cy="4659904"/>
          </a:xfrm>
          <a:prstGeom prst="rect">
            <a:avLst/>
          </a:prstGeom>
          <a:ln w="12700">
            <a:solidFill>
              <a:srgbClr val="CFC8B8"/>
            </a:solidFill>
          </a:ln>
        </p:spPr>
      </p:pic>
      <p:sp>
        <p:nvSpPr>
          <p:cNvPr id="8" name="TextBox 7"/>
          <p:cNvSpPr txBox="1"/>
          <p:nvPr/>
        </p:nvSpPr>
        <p:spPr>
          <a:xfrm>
            <a:off x="7589520" y="1463040"/>
            <a:ext cx="4206240" cy="4754880"/>
          </a:xfrm>
          <a:prstGeom prst="rect">
            <a:avLst/>
          </a:prstGeom>
          <a:noFill/>
        </p:spPr>
        <p:txBody>
          <a:bodyPr wrap="square">
            <a:spAutoFit/>
          </a:bodyPr>
          <a:lstStyle/>
          <a:p>
            <a:pPr>
              <a:spcAft>
                <a:spcPts val="900"/>
              </a:spcAft>
            </a:pPr>
            <a:r>
              <a:rPr sz="900">
                <a:solidFill>
                  <a:srgbClr val="1F5F46"/>
                </a:solidFill>
                <a:latin typeface="Segoe UI"/>
              </a:rPr>
              <a:t>■  </a:t>
            </a:r>
            <a:r>
              <a:rPr sz="1500">
                <a:solidFill>
                  <a:srgbClr val="1D2420"/>
                </a:solidFill>
                <a:latin typeface="Segoe UI"/>
              </a:rPr>
              <a:t>trivy image --exit-code 1 --severity HIGH,CRITICAL --ignore-unfixed</a:t>
            </a:r>
          </a:p>
          <a:p>
            <a:pPr>
              <a:spcAft>
                <a:spcPts val="900"/>
              </a:spcAft>
            </a:pPr>
            <a:r>
              <a:rPr sz="900">
                <a:solidFill>
                  <a:srgbClr val="1F5F46"/>
                </a:solidFill>
                <a:latin typeface="Segoe UI"/>
              </a:rPr>
              <a:t>■  </a:t>
            </a:r>
            <a:r>
              <a:rPr sz="1500">
                <a:solidFill>
                  <a:srgbClr val="1D2420"/>
                </a:solidFill>
                <a:latin typeface="Segoe UI"/>
              </a:rPr>
              <a:t>Result: 0 / 0 (Debian 13.7, Alpine 3.24.2)</a:t>
            </a:r>
          </a:p>
          <a:p>
            <a:pPr>
              <a:spcAft>
                <a:spcPts val="900"/>
              </a:spcAft>
            </a:pPr>
            <a:r>
              <a:rPr sz="900">
                <a:solidFill>
                  <a:srgbClr val="1F5F46"/>
                </a:solidFill>
                <a:latin typeface="Segoe UI"/>
              </a:rPr>
              <a:t>■  </a:t>
            </a:r>
            <a:r>
              <a:rPr sz="1500">
                <a:solidFill>
                  <a:srgbClr val="1D2420"/>
                </a:solidFill>
                <a:latin typeface="Segoe UI"/>
              </a:rPr>
              <a:t>Why clean: slim/alpine bases, no build tools at runtime, pinned + Dependabot</a:t>
            </a:r>
          </a:p>
          <a:p>
            <a:pPr>
              <a:spcAft>
                <a:spcPts val="900"/>
              </a:spcAft>
            </a:pPr>
            <a:r>
              <a:rPr sz="900">
                <a:solidFill>
                  <a:srgbClr val="1F5F46"/>
                </a:solidFill>
                <a:latin typeface="Segoe UI"/>
              </a:rPr>
              <a:t>■  </a:t>
            </a:r>
            <a:r>
              <a:rPr sz="1500">
                <a:solidFill>
                  <a:srgbClr val="1D2420"/>
                </a:solidFill>
                <a:latin typeface="Segoe UI"/>
              </a:rPr>
              <a:t>Also: gitleaks, bandit, pip-audit, npm audit, Trivy IaC</a:t>
            </a:r>
          </a:p>
          <a:p>
            <a:pPr>
              <a:spcAft>
                <a:spcPts val="900"/>
              </a:spcAft>
            </a:pPr>
            <a:r>
              <a:rPr sz="900">
                <a:solidFill>
                  <a:srgbClr val="1F5F46"/>
                </a:solidFill>
                <a:latin typeface="Segoe UI"/>
              </a:rPr>
              <a:t>■  </a:t>
            </a:r>
            <a:r>
              <a:rPr sz="1500">
                <a:solidFill>
                  <a:srgbClr val="1D2420"/>
                </a:solidFill>
                <a:latin typeface="Segoe UI"/>
              </a:rPr>
              <a:t>Runtime: non-root, read-only rootfs, PSA restricted, NetworkPolicy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M7</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Terraform: AWS VPC + EKS, as code</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8 / 15</a:t>
            </a:r>
          </a:p>
        </p:txBody>
      </p:sp>
      <p:sp>
        <p:nvSpPr>
          <p:cNvPr id="7" name="TextBox 6"/>
          <p:cNvSpPr txBox="1"/>
          <p:nvPr/>
        </p:nvSpPr>
        <p:spPr>
          <a:xfrm>
            <a:off x="548640" y="1463040"/>
            <a:ext cx="5120640" cy="3657600"/>
          </a:xfrm>
          <a:prstGeom prst="rect">
            <a:avLst/>
          </a:prstGeom>
          <a:noFill/>
        </p:spPr>
        <p:txBody>
          <a:bodyPr wrap="square">
            <a:spAutoFit/>
          </a:bodyPr>
          <a:lstStyle/>
          <a:p>
            <a:pPr>
              <a:spcAft>
                <a:spcPts val="900"/>
              </a:spcAft>
            </a:pPr>
            <a:r>
              <a:rPr sz="1000">
                <a:solidFill>
                  <a:srgbClr val="1F5F46"/>
                </a:solidFill>
                <a:latin typeface="Segoe UI"/>
              </a:rPr>
              <a:t>■  </a:t>
            </a:r>
            <a:r>
              <a:rPr sz="1600">
                <a:solidFill>
                  <a:srgbClr val="1D2420"/>
                </a:solidFill>
                <a:latin typeface="Segoe UI"/>
              </a:rPr>
              <a:t>VPC 10.42.0.0/16 · 2 public + 2 private subnets (ap-south-1a/b)</a:t>
            </a:r>
          </a:p>
          <a:p>
            <a:pPr>
              <a:spcAft>
                <a:spcPts val="900"/>
              </a:spcAft>
            </a:pPr>
            <a:r>
              <a:rPr sz="1000">
                <a:solidFill>
                  <a:srgbClr val="1F5F46"/>
                </a:solidFill>
                <a:latin typeface="Segoe UI"/>
              </a:rPr>
              <a:t>■  </a:t>
            </a:r>
            <a:r>
              <a:rPr sz="1600">
                <a:solidFill>
                  <a:srgbClr val="1D2420"/>
                </a:solidFill>
                <a:latin typeface="Segoe UI"/>
              </a:rPr>
              <a:t>EKS 1.35 · node group t3.medium × 2 (1–3)</a:t>
            </a:r>
          </a:p>
          <a:p>
            <a:pPr>
              <a:spcAft>
                <a:spcPts val="900"/>
              </a:spcAft>
            </a:pPr>
            <a:r>
              <a:rPr sz="1000">
                <a:solidFill>
                  <a:srgbClr val="1F5F46"/>
                </a:solidFill>
                <a:latin typeface="Segoe UI"/>
              </a:rPr>
              <a:t>■  </a:t>
            </a:r>
            <a:r>
              <a:rPr sz="1600">
                <a:solidFill>
                  <a:srgbClr val="1D2420"/>
                </a:solidFill>
                <a:latin typeface="Segoe UI"/>
              </a:rPr>
              <a:t>IAM · add-ons · EBS CSI via Pod Identity</a:t>
            </a:r>
          </a:p>
          <a:p>
            <a:pPr>
              <a:spcAft>
                <a:spcPts val="900"/>
              </a:spcAft>
            </a:pPr>
            <a:r>
              <a:rPr sz="1000">
                <a:solidFill>
                  <a:srgbClr val="1F5F46"/>
                </a:solidFill>
                <a:latin typeface="Segoe UI"/>
              </a:rPr>
              <a:t>■  </a:t>
            </a:r>
            <a:r>
              <a:rPr sz="1600">
                <a:solidFill>
                  <a:srgbClr val="1D2420"/>
                </a:solidFill>
                <a:latin typeface="Segoe UI"/>
              </a:rPr>
              <a:t>API endpoint limited to your /32</a:t>
            </a:r>
          </a:p>
          <a:p>
            <a:pPr>
              <a:spcAft>
                <a:spcPts val="900"/>
              </a:spcAft>
            </a:pPr>
            <a:r>
              <a:rPr sz="1000">
                <a:solidFill>
                  <a:srgbClr val="1F5F46"/>
                </a:solidFill>
                <a:latin typeface="Segoe UI"/>
              </a:rPr>
              <a:t>■  </a:t>
            </a:r>
            <a:r>
              <a:rPr sz="1600">
                <a:solidFill>
                  <a:srgbClr val="1D2420"/>
                </a:solidFill>
                <a:latin typeface="Segoe UI"/>
              </a:rPr>
              <a:t>NAT / KMS / logs behind cost switches (ADR 0003)</a:t>
            </a:r>
          </a:p>
          <a:p>
            <a:pPr>
              <a:spcAft>
                <a:spcPts val="900"/>
              </a:spcAft>
            </a:pPr>
            <a:r>
              <a:rPr sz="1000">
                <a:solidFill>
                  <a:srgbClr val="1F5F46"/>
                </a:solidFill>
                <a:latin typeface="Segoe UI"/>
              </a:rPr>
              <a:t>■  </a:t>
            </a:r>
            <a:r>
              <a:rPr sz="1600">
                <a:solidFill>
                  <a:srgbClr val="1D2420"/>
                </a:solidFill>
                <a:latin typeface="Segoe UI"/>
              </a:rPr>
              <a:t>init · validate · test (4 pass) · plan: 29 to add</a:t>
            </a:r>
          </a:p>
        </p:txBody>
      </p:sp>
      <p:sp>
        <p:nvSpPr>
          <p:cNvPr id="8" name="Rounded Rectangle 7"/>
          <p:cNvSpPr/>
          <p:nvPr/>
        </p:nvSpPr>
        <p:spPr>
          <a:xfrm>
            <a:off x="548640" y="5074920"/>
            <a:ext cx="5120640" cy="1051560"/>
          </a:xfrm>
          <a:prstGeom prst="roundRect">
            <a:avLst>
              <a:gd name="adj" fmla="val 12000"/>
            </a:avLst>
          </a:prstGeom>
          <a:solidFill>
            <a:srgbClr val="FBEAE6"/>
          </a:solidFill>
          <a:ln w="15875">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B03A2E"/>
                </a:solidFill>
                <a:latin typeface="Segoe UI"/>
              </a:rPr>
              <a:t>AWS status: PENDING EXTERNAL ACCESS</a:t>
            </a:r>
          </a:p>
          <a:p>
            <a:pPr algn="ctr"/>
            <a:r>
              <a:rPr sz="1200" b="0">
                <a:solidFill>
                  <a:srgbClr val="5C6660"/>
                </a:solidFill>
                <a:latin typeface="Segoe UI"/>
              </a:rPr>
              <a:t>Not applied: no valid AWS credentials. No console screenshots.</a:t>
            </a:r>
          </a:p>
        </p:txBody>
      </p:sp>
      <p:pic>
        <p:nvPicPr>
          <p:cNvPr id="9" name="Picture 8" descr="m7-terraform-plan.png"/>
          <p:cNvPicPr>
            <a:picLocks noChangeAspect="1"/>
          </p:cNvPicPr>
          <p:nvPr/>
        </p:nvPicPr>
        <p:blipFill>
          <a:blip r:embed="rId3"/>
          <a:stretch>
            <a:fillRect/>
          </a:stretch>
        </p:blipFill>
        <p:spPr>
          <a:xfrm>
            <a:off x="5943600" y="1417320"/>
            <a:ext cx="5760720" cy="4631618"/>
          </a:xfrm>
          <a:prstGeom prst="rect">
            <a:avLst/>
          </a:prstGeom>
          <a:ln w="12700">
            <a:solidFill>
              <a:srgbClr val="CFC8B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M8</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Kubernetes + Helm on kind</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9 / 15</a:t>
            </a:r>
          </a:p>
        </p:txBody>
      </p:sp>
      <p:pic>
        <p:nvPicPr>
          <p:cNvPr id="7" name="Picture 6" descr="m8-kubectl-get-pods-svc-ingress-hpa.png"/>
          <p:cNvPicPr>
            <a:picLocks noChangeAspect="1"/>
          </p:cNvPicPr>
          <p:nvPr/>
        </p:nvPicPr>
        <p:blipFill>
          <a:blip r:embed="rId3"/>
          <a:stretch>
            <a:fillRect/>
          </a:stretch>
        </p:blipFill>
        <p:spPr>
          <a:xfrm>
            <a:off x="548640" y="1417320"/>
            <a:ext cx="5394960" cy="4679228"/>
          </a:xfrm>
          <a:prstGeom prst="rect">
            <a:avLst/>
          </a:prstGeom>
          <a:ln w="12700">
            <a:solidFill>
              <a:srgbClr val="CFC8B8"/>
            </a:solidFill>
          </a:ln>
        </p:spPr>
      </p:pic>
      <p:sp>
        <p:nvSpPr>
          <p:cNvPr id="8" name="TextBox 7"/>
          <p:cNvSpPr txBox="1"/>
          <p:nvPr/>
        </p:nvSpPr>
        <p:spPr>
          <a:xfrm>
            <a:off x="6217920" y="1463040"/>
            <a:ext cx="5577840" cy="4754880"/>
          </a:xfrm>
          <a:prstGeom prst="rect">
            <a:avLst/>
          </a:prstGeom>
          <a:noFill/>
        </p:spPr>
        <p:txBody>
          <a:bodyPr wrap="square">
            <a:spAutoFit/>
          </a:bodyPr>
          <a:lstStyle/>
          <a:p>
            <a:pPr>
              <a:spcAft>
                <a:spcPts val="900"/>
              </a:spcAft>
            </a:pPr>
            <a:r>
              <a:rPr sz="900">
                <a:solidFill>
                  <a:srgbClr val="1F5F46"/>
                </a:solidFill>
                <a:latin typeface="Segoe UI"/>
              </a:rPr>
              <a:t>■  </a:t>
            </a:r>
            <a:r>
              <a:rPr sz="1500">
                <a:solidFill>
                  <a:srgbClr val="1D2420"/>
                </a:solidFill>
                <a:latin typeface="Segoe UI"/>
              </a:rPr>
              <a:t>helm upgrade --install with the image SHA required</a:t>
            </a:r>
          </a:p>
          <a:p>
            <a:pPr>
              <a:spcAft>
                <a:spcPts val="900"/>
              </a:spcAft>
            </a:pPr>
            <a:r>
              <a:rPr sz="900">
                <a:solidFill>
                  <a:srgbClr val="1F5F46"/>
                </a:solidFill>
                <a:latin typeface="Segoe UI"/>
              </a:rPr>
              <a:t>■  </a:t>
            </a:r>
            <a:r>
              <a:rPr sz="1500">
                <a:solidFill>
                  <a:srgbClr val="1D2420"/>
                </a:solidFill>
                <a:latin typeface="Segoe UI"/>
              </a:rPr>
              <a:t>Ingress (Traefik): / → frontend, /api → backend</a:t>
            </a:r>
          </a:p>
          <a:p>
            <a:pPr>
              <a:spcAft>
                <a:spcPts val="900"/>
              </a:spcAft>
            </a:pPr>
            <a:r>
              <a:rPr sz="900">
                <a:solidFill>
                  <a:srgbClr val="1F5F46"/>
                </a:solidFill>
                <a:latin typeface="Segoe UI"/>
              </a:rPr>
              <a:t>■  </a:t>
            </a:r>
            <a:r>
              <a:rPr sz="1500">
                <a:solidFill>
                  <a:srgbClr val="1D2420"/>
                </a:solidFill>
                <a:latin typeface="Segoe UI"/>
              </a:rPr>
              <a:t>HPA 2→3→5 at 357% CPU, back to 2 after load</a:t>
            </a:r>
          </a:p>
          <a:p>
            <a:pPr>
              <a:spcAft>
                <a:spcPts val="900"/>
              </a:spcAft>
            </a:pPr>
            <a:r>
              <a:rPr sz="900">
                <a:solidFill>
                  <a:srgbClr val="1F5F46"/>
                </a:solidFill>
                <a:latin typeface="Segoe UI"/>
              </a:rPr>
              <a:t>■  </a:t>
            </a:r>
            <a:r>
              <a:rPr sz="1500">
                <a:solidFill>
                  <a:srgbClr val="1D2420"/>
                </a:solidFill>
                <a:latin typeface="Segoe UI"/>
              </a:rPr>
              <a:t>PostgreSQL StatefulSet · migrate Job per release</a:t>
            </a:r>
          </a:p>
          <a:p>
            <a:pPr>
              <a:spcAft>
                <a:spcPts val="900"/>
              </a:spcAft>
            </a:pPr>
            <a:r>
              <a:rPr sz="900">
                <a:solidFill>
                  <a:srgbClr val="1F5F46"/>
                </a:solidFill>
                <a:latin typeface="Segoe UI"/>
              </a:rPr>
              <a:t>■  </a:t>
            </a:r>
            <a:r>
              <a:rPr sz="1500">
                <a:solidFill>
                  <a:srgbClr val="1D2420"/>
                </a:solidFill>
                <a:latin typeface="Segoe UI"/>
              </a:rPr>
              <a:t>PSA restricted · non-root · read-only rootfs</a:t>
            </a:r>
          </a:p>
          <a:p>
            <a:pPr>
              <a:spcAft>
                <a:spcPts val="900"/>
              </a:spcAft>
            </a:pPr>
            <a:r>
              <a:rPr sz="900">
                <a:solidFill>
                  <a:srgbClr val="1F5F46"/>
                </a:solidFill>
                <a:latin typeface="Segoe UI"/>
              </a:rPr>
              <a:t>■  </a:t>
            </a:r>
            <a:r>
              <a:rPr sz="1500">
                <a:solidFill>
                  <a:srgbClr val="1D2420"/>
                </a:solidFill>
                <a:latin typeface="Segoe UI"/>
              </a:rPr>
              <a:t>Real incidents fixed: Docker Hub DNS, hostPort rollout deadlock</a:t>
            </a:r>
          </a:p>
          <a:p>
            <a:pPr>
              <a:spcAft>
                <a:spcPts val="900"/>
              </a:spcAft>
            </a:pPr>
            <a:r>
              <a:rPr sz="900">
                <a:solidFill>
                  <a:srgbClr val="1F5F46"/>
                </a:solidFill>
                <a:latin typeface="Segoe UI"/>
              </a:rPr>
              <a:t>■  </a:t>
            </a:r>
            <a:r>
              <a:rPr sz="1500">
                <a:solidFill>
                  <a:srgbClr val="1D2420"/>
                </a:solidFill>
                <a:latin typeface="Segoe UI"/>
              </a:rPr>
              <a:t>4 troubleshooting labs: ImagePullBackOff, empty Service, DB failure, not Ready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GITOPS</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Argo CD: Git is the source of truth</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10 / 15</a:t>
            </a:r>
          </a:p>
        </p:txBody>
      </p:sp>
      <p:pic>
        <p:nvPicPr>
          <p:cNvPr id="7" name="Picture 6" descr="m8-argocd-app-tree.png"/>
          <p:cNvPicPr>
            <a:picLocks noChangeAspect="1"/>
          </p:cNvPicPr>
          <p:nvPr/>
        </p:nvPicPr>
        <p:blipFill>
          <a:blip r:embed="rId3"/>
          <a:stretch>
            <a:fillRect/>
          </a:stretch>
        </p:blipFill>
        <p:spPr>
          <a:xfrm>
            <a:off x="548640" y="1417320"/>
            <a:ext cx="6766560" cy="4212183"/>
          </a:xfrm>
          <a:prstGeom prst="rect">
            <a:avLst/>
          </a:prstGeom>
          <a:ln w="12700">
            <a:solidFill>
              <a:srgbClr val="CFC8B8"/>
            </a:solidFill>
          </a:ln>
        </p:spPr>
      </p:pic>
      <p:sp>
        <p:nvSpPr>
          <p:cNvPr id="8" name="TextBox 7"/>
          <p:cNvSpPr txBox="1"/>
          <p:nvPr/>
        </p:nvSpPr>
        <p:spPr>
          <a:xfrm>
            <a:off x="7589520" y="1463040"/>
            <a:ext cx="4206240" cy="4754880"/>
          </a:xfrm>
          <a:prstGeom prst="rect">
            <a:avLst/>
          </a:prstGeom>
          <a:noFill/>
        </p:spPr>
        <p:txBody>
          <a:bodyPr wrap="square">
            <a:spAutoFit/>
          </a:bodyPr>
          <a:lstStyle/>
          <a:p>
            <a:pPr>
              <a:spcAft>
                <a:spcPts val="900"/>
              </a:spcAft>
            </a:pPr>
            <a:r>
              <a:rPr sz="1000">
                <a:solidFill>
                  <a:srgbClr val="1F5F46"/>
                </a:solidFill>
                <a:latin typeface="Segoe UI"/>
              </a:rPr>
              <a:t>■  </a:t>
            </a:r>
            <a:r>
              <a:rPr sz="1600">
                <a:solidFill>
                  <a:srgbClr val="1D2420"/>
                </a:solidFill>
                <a:latin typeface="Segoe UI"/>
              </a:rPr>
              <a:t>Automated sync · prune · self-heal</a:t>
            </a:r>
          </a:p>
          <a:p>
            <a:pPr>
              <a:spcAft>
                <a:spcPts val="900"/>
              </a:spcAft>
            </a:pPr>
            <a:r>
              <a:rPr sz="1000">
                <a:solidFill>
                  <a:srgbClr val="1F5F46"/>
                </a:solidFill>
                <a:latin typeface="Segoe UI"/>
              </a:rPr>
              <a:t>■  </a:t>
            </a:r>
            <a:r>
              <a:rPr sz="1600">
                <a:solidFill>
                  <a:srgbClr val="1D2420"/>
                </a:solidFill>
                <a:latin typeface="Segoe UI"/>
              </a:rPr>
              <a:t>Promote: scripts/promote.sh &lt;sha&gt; → commit</a:t>
            </a:r>
          </a:p>
          <a:p>
            <a:pPr>
              <a:spcAft>
                <a:spcPts val="500"/>
              </a:spcAft>
            </a:pPr>
            <a:r>
              <a:rPr sz="1400">
                <a:solidFill>
                  <a:srgbClr val="5C6660"/>
                </a:solidFill>
                <a:latin typeface="Segoe UI"/>
              </a:rPr>
              <a:t>      – </a:t>
            </a:r>
            <a:r>
              <a:rPr sz="1400">
                <a:solidFill>
                  <a:srgbClr val="5C6660"/>
                </a:solidFill>
                <a:latin typeface="Segoe UI"/>
              </a:rPr>
              <a:t>161f84e → 8be415d (7038d15)</a:t>
            </a:r>
          </a:p>
          <a:p>
            <a:pPr>
              <a:spcAft>
                <a:spcPts val="900"/>
              </a:spcAft>
            </a:pPr>
            <a:r>
              <a:rPr sz="1000">
                <a:solidFill>
                  <a:srgbClr val="1F5F46"/>
                </a:solidFill>
                <a:latin typeface="Segoe UI"/>
              </a:rPr>
              <a:t>■  </a:t>
            </a:r>
            <a:r>
              <a:rPr sz="1600">
                <a:solidFill>
                  <a:srgbClr val="1D2420"/>
                </a:solidFill>
                <a:latin typeface="Segoe UI"/>
              </a:rPr>
              <a:t>Rollback: git revert (c1fc74c)</a:t>
            </a:r>
          </a:p>
          <a:p>
            <a:pPr>
              <a:spcAft>
                <a:spcPts val="900"/>
              </a:spcAft>
            </a:pPr>
            <a:r>
              <a:rPr sz="1000">
                <a:solidFill>
                  <a:srgbClr val="1F5F46"/>
                </a:solidFill>
                <a:latin typeface="Segoe UI"/>
              </a:rPr>
              <a:t>■  </a:t>
            </a:r>
            <a:r>
              <a:rPr sz="1600">
                <a:solidFill>
                  <a:srgbClr val="1D2420"/>
                </a:solidFill>
                <a:latin typeface="Segoe UI"/>
              </a:rPr>
              <a:t>DB password in a pre-created Secret, never in Git</a:t>
            </a:r>
          </a:p>
          <a:p>
            <a:pPr>
              <a:spcAft>
                <a:spcPts val="900"/>
              </a:spcAft>
            </a:pPr>
            <a:r>
              <a:rPr sz="1000">
                <a:solidFill>
                  <a:srgbClr val="1F5F46"/>
                </a:solidFill>
                <a:latin typeface="Segoe UI"/>
              </a:rPr>
              <a:t>■  </a:t>
            </a:r>
            <a:r>
              <a:rPr sz="1600">
                <a:solidFill>
                  <a:srgbClr val="1D2420"/>
                </a:solidFill>
                <a:latin typeface="Segoe UI"/>
              </a:rPr>
              <a:t>Migrations as an Argo CD Sync hook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M9</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Observability: Prometheus + Grafana</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11 / 15</a:t>
            </a:r>
          </a:p>
        </p:txBody>
      </p:sp>
      <p:pic>
        <p:nvPicPr>
          <p:cNvPr id="7" name="Picture 6" descr="m9-grafana-dashboard.png"/>
          <p:cNvPicPr>
            <a:picLocks noChangeAspect="1"/>
          </p:cNvPicPr>
          <p:nvPr/>
        </p:nvPicPr>
        <p:blipFill>
          <a:blip r:embed="rId3"/>
          <a:stretch>
            <a:fillRect/>
          </a:stretch>
        </p:blipFill>
        <p:spPr>
          <a:xfrm>
            <a:off x="548640" y="1417320"/>
            <a:ext cx="6400800" cy="3984498"/>
          </a:xfrm>
          <a:prstGeom prst="rect">
            <a:avLst/>
          </a:prstGeom>
          <a:ln w="12700">
            <a:solidFill>
              <a:srgbClr val="CFC8B8"/>
            </a:solidFill>
          </a:ln>
        </p:spPr>
      </p:pic>
      <p:pic>
        <p:nvPicPr>
          <p:cNvPr id="8" name="Picture 7" descr="m9-prometheus-targets-up.png"/>
          <p:cNvPicPr>
            <a:picLocks noChangeAspect="1"/>
          </p:cNvPicPr>
          <p:nvPr/>
        </p:nvPicPr>
        <p:blipFill>
          <a:blip r:embed="rId4"/>
          <a:stretch>
            <a:fillRect/>
          </a:stretch>
        </p:blipFill>
        <p:spPr>
          <a:xfrm>
            <a:off x="7178040" y="1417320"/>
            <a:ext cx="4505127" cy="3657599"/>
          </a:xfrm>
          <a:prstGeom prst="rect">
            <a:avLst/>
          </a:prstGeom>
          <a:ln w="12700">
            <a:solidFill>
              <a:srgbClr val="CFC8B8"/>
            </a:solidFill>
          </a:ln>
        </p:spPr>
      </p:pic>
      <p:sp>
        <p:nvSpPr>
          <p:cNvPr id="9" name="TextBox 8"/>
          <p:cNvSpPr txBox="1"/>
          <p:nvPr/>
        </p:nvSpPr>
        <p:spPr>
          <a:xfrm>
            <a:off x="7178040" y="5257800"/>
            <a:ext cx="4572000" cy="1005840"/>
          </a:xfrm>
          <a:prstGeom prst="rect">
            <a:avLst/>
          </a:prstGeom>
          <a:noFill/>
        </p:spPr>
        <p:txBody>
          <a:bodyPr wrap="square" anchor="t" lIns="45720" rIns="45720">
            <a:spAutoFit/>
          </a:bodyPr>
          <a:lstStyle/>
          <a:p>
            <a:pPr algn="l">
              <a:spcAft>
                <a:spcPts val="600"/>
              </a:spcAft>
            </a:pPr>
            <a:r>
              <a:rPr sz="1400" b="1">
                <a:solidFill>
                  <a:srgbClr val="1F5F46"/>
                </a:solidFill>
                <a:latin typeface="Segoe UI"/>
              </a:rPr>
              <a:t>/metrics · ServiceMonitor 5/5 UP · provisioned dashboard</a:t>
            </a:r>
          </a:p>
          <a:p>
            <a:pPr algn="l">
              <a:spcAft>
                <a:spcPts val="600"/>
              </a:spcAft>
            </a:pPr>
            <a:r>
              <a:rPr sz="1300" b="0">
                <a:solidFill>
                  <a:srgbClr val="5C6660"/>
                </a:solidFill>
                <a:latin typeface="Segoe UI"/>
              </a:rPr>
              <a:t>Found and fixed: Grafana GC thrash (GOMEMLIMIT 345MiB vs 344Mi used)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OPERATIONS</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Failure labs and real incidents</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12 / 15</a:t>
            </a:r>
          </a:p>
        </p:txBody>
      </p:sp>
      <p:sp>
        <p:nvSpPr>
          <p:cNvPr id="7" name="Rounded Rectangle 6"/>
          <p:cNvSpPr/>
          <p:nvPr/>
        </p:nvSpPr>
        <p:spPr>
          <a:xfrm>
            <a:off x="548640" y="1554480"/>
            <a:ext cx="86868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Lab 1</a:t>
            </a:r>
          </a:p>
        </p:txBody>
      </p:sp>
      <p:sp>
        <p:nvSpPr>
          <p:cNvPr id="8" name="TextBox 7"/>
          <p:cNvSpPr txBox="1"/>
          <p:nvPr/>
        </p:nvSpPr>
        <p:spPr>
          <a:xfrm>
            <a:off x="1554480" y="1508760"/>
            <a:ext cx="4206240" cy="731520"/>
          </a:xfrm>
          <a:prstGeom prst="rect">
            <a:avLst/>
          </a:prstGeom>
          <a:noFill/>
        </p:spPr>
        <p:txBody>
          <a:bodyPr wrap="square" anchor="t" lIns="45720" rIns="45720">
            <a:spAutoFit/>
          </a:bodyPr>
          <a:lstStyle/>
          <a:p>
            <a:pPr algn="l">
              <a:spcAft>
                <a:spcPts val="600"/>
              </a:spcAft>
            </a:pPr>
            <a:r>
              <a:rPr sz="1600" b="1">
                <a:solidFill>
                  <a:srgbClr val="1D2420"/>
                </a:solidFill>
                <a:latin typeface="Segoe UI"/>
              </a:rPr>
              <a:t>ImagePullBackOff</a:t>
            </a:r>
          </a:p>
          <a:p>
            <a:pPr algn="l">
              <a:spcAft>
                <a:spcPts val="600"/>
              </a:spcAft>
            </a:pPr>
            <a:r>
              <a:rPr sz="1300" b="0">
                <a:solidFill>
                  <a:srgbClr val="5C6660"/>
                </a:solidFill>
                <a:latin typeface="Segoe UI"/>
              </a:rPr>
              <a:t>tag never built → set image to a published SHA</a:t>
            </a:r>
          </a:p>
        </p:txBody>
      </p:sp>
      <p:sp>
        <p:nvSpPr>
          <p:cNvPr id="9" name="Rounded Rectangle 8"/>
          <p:cNvSpPr/>
          <p:nvPr/>
        </p:nvSpPr>
        <p:spPr>
          <a:xfrm>
            <a:off x="548640" y="2331720"/>
            <a:ext cx="86868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Lab 2</a:t>
            </a:r>
          </a:p>
        </p:txBody>
      </p:sp>
      <p:sp>
        <p:nvSpPr>
          <p:cNvPr id="10" name="TextBox 9"/>
          <p:cNvSpPr txBox="1"/>
          <p:nvPr/>
        </p:nvSpPr>
        <p:spPr>
          <a:xfrm>
            <a:off x="1554480" y="2286000"/>
            <a:ext cx="4206240" cy="731520"/>
          </a:xfrm>
          <a:prstGeom prst="rect">
            <a:avLst/>
          </a:prstGeom>
          <a:noFill/>
        </p:spPr>
        <p:txBody>
          <a:bodyPr wrap="square" anchor="t" lIns="45720" rIns="45720">
            <a:spAutoFit/>
          </a:bodyPr>
          <a:lstStyle/>
          <a:p>
            <a:pPr algn="l">
              <a:spcAft>
                <a:spcPts val="600"/>
              </a:spcAft>
            </a:pPr>
            <a:r>
              <a:rPr sz="1600" b="1">
                <a:solidFill>
                  <a:srgbClr val="1D2420"/>
                </a:solidFill>
                <a:latin typeface="Segoe UI"/>
              </a:rPr>
              <a:t>Service, no endpoints</a:t>
            </a:r>
          </a:p>
          <a:p>
            <a:pPr algn="l">
              <a:spcAft>
                <a:spcPts val="600"/>
              </a:spcAft>
            </a:pPr>
            <a:r>
              <a:rPr sz="1300" b="0">
                <a:solidFill>
                  <a:srgbClr val="5C6660"/>
                </a:solidFill>
                <a:latin typeface="Segoe UI"/>
              </a:rPr>
              <a:t>selector typo → patch selector</a:t>
            </a:r>
          </a:p>
        </p:txBody>
      </p:sp>
      <p:sp>
        <p:nvSpPr>
          <p:cNvPr id="11" name="Rounded Rectangle 10"/>
          <p:cNvSpPr/>
          <p:nvPr/>
        </p:nvSpPr>
        <p:spPr>
          <a:xfrm>
            <a:off x="548640" y="3108959"/>
            <a:ext cx="86868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Lab 3</a:t>
            </a:r>
          </a:p>
        </p:txBody>
      </p:sp>
      <p:sp>
        <p:nvSpPr>
          <p:cNvPr id="12" name="TextBox 11"/>
          <p:cNvSpPr txBox="1"/>
          <p:nvPr/>
        </p:nvSpPr>
        <p:spPr>
          <a:xfrm>
            <a:off x="1554480" y="3063239"/>
            <a:ext cx="4206240" cy="731520"/>
          </a:xfrm>
          <a:prstGeom prst="rect">
            <a:avLst/>
          </a:prstGeom>
          <a:noFill/>
        </p:spPr>
        <p:txBody>
          <a:bodyPr wrap="square" anchor="t" lIns="45720" rIns="45720">
            <a:spAutoFit/>
          </a:bodyPr>
          <a:lstStyle/>
          <a:p>
            <a:pPr algn="l">
              <a:spcAft>
                <a:spcPts val="600"/>
              </a:spcAft>
            </a:pPr>
            <a:r>
              <a:rPr sz="1600" b="1">
                <a:solidFill>
                  <a:srgbClr val="1D2420"/>
                </a:solidFill>
                <a:latin typeface="Segoe UI"/>
              </a:rPr>
              <a:t>Migration can't reach DB</a:t>
            </a:r>
          </a:p>
          <a:p>
            <a:pPr algn="l">
              <a:spcAft>
                <a:spcPts val="600"/>
              </a:spcAft>
            </a:pPr>
            <a:r>
              <a:rPr sz="1300" b="0">
                <a:solidFill>
                  <a:srgbClr val="5C6660"/>
                </a:solidFill>
                <a:latin typeface="Segoe UI"/>
              </a:rPr>
              <a:t>wrong host → recreate Job</a:t>
            </a:r>
          </a:p>
        </p:txBody>
      </p:sp>
      <p:sp>
        <p:nvSpPr>
          <p:cNvPr id="13" name="Rounded Rectangle 12"/>
          <p:cNvSpPr/>
          <p:nvPr/>
        </p:nvSpPr>
        <p:spPr>
          <a:xfrm>
            <a:off x="548640" y="3886199"/>
            <a:ext cx="868680" cy="329184"/>
          </a:xfrm>
          <a:prstGeom prst="roundRect">
            <a:avLst>
              <a:gd name="adj" fmla="val 12000"/>
            </a:avLst>
          </a:prstGeom>
          <a:solidFill>
            <a:srgbClr val="DDEAE2"/>
          </a:solidFill>
          <a:ln w="15875">
            <a:solidFill>
              <a:srgbClr val="DDEAE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1F5F46"/>
                </a:solidFill>
                <a:latin typeface="Segoe UI"/>
              </a:rPr>
              <a:t>Lab 4</a:t>
            </a:r>
          </a:p>
        </p:txBody>
      </p:sp>
      <p:sp>
        <p:nvSpPr>
          <p:cNvPr id="14" name="TextBox 13"/>
          <p:cNvSpPr txBox="1"/>
          <p:nvPr/>
        </p:nvSpPr>
        <p:spPr>
          <a:xfrm>
            <a:off x="1554480" y="3840479"/>
            <a:ext cx="4206240" cy="731520"/>
          </a:xfrm>
          <a:prstGeom prst="rect">
            <a:avLst/>
          </a:prstGeom>
          <a:noFill/>
        </p:spPr>
        <p:txBody>
          <a:bodyPr wrap="square" anchor="t" lIns="45720" rIns="45720">
            <a:spAutoFit/>
          </a:bodyPr>
          <a:lstStyle/>
          <a:p>
            <a:pPr algn="l">
              <a:spcAft>
                <a:spcPts val="600"/>
              </a:spcAft>
            </a:pPr>
            <a:r>
              <a:rPr sz="1600" b="1">
                <a:solidFill>
                  <a:srgbClr val="1D2420"/>
                </a:solidFill>
                <a:latin typeface="Segoe UI"/>
              </a:rPr>
              <a:t>Running, never Ready</a:t>
            </a:r>
          </a:p>
          <a:p>
            <a:pPr algn="l">
              <a:spcAft>
                <a:spcPts val="600"/>
              </a:spcAft>
            </a:pPr>
            <a:r>
              <a:rPr sz="1300" b="0">
                <a:solidFill>
                  <a:srgbClr val="5C6660"/>
                </a:solidFill>
                <a:latin typeface="Segoe UI"/>
              </a:rPr>
              <a:t>/ready 503, no schema → run migrations</a:t>
            </a:r>
          </a:p>
        </p:txBody>
      </p:sp>
      <p:sp>
        <p:nvSpPr>
          <p:cNvPr id="15" name="Rounded Rectangle 14"/>
          <p:cNvSpPr/>
          <p:nvPr/>
        </p:nvSpPr>
        <p:spPr>
          <a:xfrm>
            <a:off x="6309360" y="1554480"/>
            <a:ext cx="1188720" cy="329184"/>
          </a:xfrm>
          <a:prstGeom prst="roundRect">
            <a:avLst>
              <a:gd name="adj" fmla="val 12000"/>
            </a:avLst>
          </a:prstGeom>
          <a:solidFill>
            <a:srgbClr val="FFF0D6"/>
          </a:solidFill>
          <a:ln w="15875">
            <a:solidFill>
              <a:srgbClr val="FFF0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C97B12"/>
                </a:solidFill>
                <a:latin typeface="Segoe UI"/>
              </a:rPr>
              <a:t>Incident</a:t>
            </a:r>
          </a:p>
        </p:txBody>
      </p:sp>
      <p:sp>
        <p:nvSpPr>
          <p:cNvPr id="16" name="TextBox 15"/>
          <p:cNvSpPr txBox="1"/>
          <p:nvPr/>
        </p:nvSpPr>
        <p:spPr>
          <a:xfrm>
            <a:off x="7635240" y="1508760"/>
            <a:ext cx="4114800" cy="731520"/>
          </a:xfrm>
          <a:prstGeom prst="rect">
            <a:avLst/>
          </a:prstGeom>
          <a:noFill/>
        </p:spPr>
        <p:txBody>
          <a:bodyPr wrap="square" anchor="t" lIns="45720" rIns="45720">
            <a:spAutoFit/>
          </a:bodyPr>
          <a:lstStyle/>
          <a:p>
            <a:pPr algn="l">
              <a:spcAft>
                <a:spcPts val="600"/>
              </a:spcAft>
            </a:pPr>
            <a:r>
              <a:rPr sz="1600" b="1">
                <a:solidFill>
                  <a:srgbClr val="1D2420"/>
                </a:solidFill>
                <a:latin typeface="Segoe UI"/>
              </a:rPr>
              <a:t>Docker Hub DNS failure</a:t>
            </a:r>
          </a:p>
          <a:p>
            <a:pPr algn="l">
              <a:spcAft>
                <a:spcPts val="600"/>
              </a:spcAft>
            </a:pPr>
            <a:r>
              <a:rPr sz="1300" b="0">
                <a:solidFill>
                  <a:srgbClr val="5C6660"/>
                </a:solidFill>
                <a:latin typeface="Segoe UI"/>
              </a:rPr>
              <a:t>first helm install timed out → retry, revision 2</a:t>
            </a:r>
          </a:p>
        </p:txBody>
      </p:sp>
      <p:sp>
        <p:nvSpPr>
          <p:cNvPr id="17" name="Rounded Rectangle 16"/>
          <p:cNvSpPr/>
          <p:nvPr/>
        </p:nvSpPr>
        <p:spPr>
          <a:xfrm>
            <a:off x="6309360" y="2331720"/>
            <a:ext cx="1188720" cy="329184"/>
          </a:xfrm>
          <a:prstGeom prst="roundRect">
            <a:avLst>
              <a:gd name="adj" fmla="val 12000"/>
            </a:avLst>
          </a:prstGeom>
          <a:solidFill>
            <a:srgbClr val="FFF0D6"/>
          </a:solidFill>
          <a:ln w="15875">
            <a:solidFill>
              <a:srgbClr val="FFF0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C97B12"/>
                </a:solidFill>
                <a:latin typeface="Segoe UI"/>
              </a:rPr>
              <a:t>Incident</a:t>
            </a:r>
          </a:p>
        </p:txBody>
      </p:sp>
      <p:sp>
        <p:nvSpPr>
          <p:cNvPr id="18" name="TextBox 17"/>
          <p:cNvSpPr txBox="1"/>
          <p:nvPr/>
        </p:nvSpPr>
        <p:spPr>
          <a:xfrm>
            <a:off x="7635240" y="2286000"/>
            <a:ext cx="4114800" cy="731520"/>
          </a:xfrm>
          <a:prstGeom prst="rect">
            <a:avLst/>
          </a:prstGeom>
          <a:noFill/>
        </p:spPr>
        <p:txBody>
          <a:bodyPr wrap="square" anchor="t" lIns="45720" rIns="45720">
            <a:spAutoFit/>
          </a:bodyPr>
          <a:lstStyle/>
          <a:p>
            <a:pPr algn="l">
              <a:spcAft>
                <a:spcPts val="600"/>
              </a:spcAft>
            </a:pPr>
            <a:r>
              <a:rPr sz="1600" b="1">
                <a:solidFill>
                  <a:srgbClr val="1D2420"/>
                </a:solidFill>
                <a:latin typeface="Segoe UI"/>
              </a:rPr>
              <a:t>Traefik hostPort deadlock</a:t>
            </a:r>
          </a:p>
          <a:p>
            <a:pPr algn="l">
              <a:spcAft>
                <a:spcPts val="600"/>
              </a:spcAft>
            </a:pPr>
            <a:r>
              <a:rPr sz="1300" b="0">
                <a:solidFill>
                  <a:srgbClr val="5C6660"/>
                </a:solidFill>
                <a:latin typeface="Segoe UI"/>
              </a:rPr>
              <a:t>surge pod Pending → maxSurge 0</a:t>
            </a:r>
          </a:p>
        </p:txBody>
      </p:sp>
      <p:sp>
        <p:nvSpPr>
          <p:cNvPr id="19" name="Rounded Rectangle 18"/>
          <p:cNvSpPr/>
          <p:nvPr/>
        </p:nvSpPr>
        <p:spPr>
          <a:xfrm>
            <a:off x="6309360" y="3108959"/>
            <a:ext cx="1188720" cy="329184"/>
          </a:xfrm>
          <a:prstGeom prst="roundRect">
            <a:avLst>
              <a:gd name="adj" fmla="val 12000"/>
            </a:avLst>
          </a:prstGeom>
          <a:solidFill>
            <a:srgbClr val="FFF0D6"/>
          </a:solidFill>
          <a:ln w="15875">
            <a:solidFill>
              <a:srgbClr val="FFF0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C97B12"/>
                </a:solidFill>
                <a:latin typeface="Segoe UI"/>
              </a:rPr>
              <a:t>Incident</a:t>
            </a:r>
          </a:p>
        </p:txBody>
      </p:sp>
      <p:sp>
        <p:nvSpPr>
          <p:cNvPr id="20" name="TextBox 19"/>
          <p:cNvSpPr txBox="1"/>
          <p:nvPr/>
        </p:nvSpPr>
        <p:spPr>
          <a:xfrm>
            <a:off x="7635240" y="3063239"/>
            <a:ext cx="4114800" cy="731520"/>
          </a:xfrm>
          <a:prstGeom prst="rect">
            <a:avLst/>
          </a:prstGeom>
          <a:noFill/>
        </p:spPr>
        <p:txBody>
          <a:bodyPr wrap="square" anchor="t" lIns="45720" rIns="45720">
            <a:spAutoFit/>
          </a:bodyPr>
          <a:lstStyle/>
          <a:p>
            <a:pPr algn="l">
              <a:spcAft>
                <a:spcPts val="600"/>
              </a:spcAft>
            </a:pPr>
            <a:r>
              <a:rPr sz="1600" b="1">
                <a:solidFill>
                  <a:srgbClr val="1D2420"/>
                </a:solidFill>
                <a:latin typeface="Segoe UI"/>
              </a:rPr>
              <a:t>Grafana GC thrash</a:t>
            </a:r>
          </a:p>
          <a:p>
            <a:pPr algn="l">
              <a:spcAft>
                <a:spcPts val="600"/>
              </a:spcAft>
            </a:pPr>
            <a:r>
              <a:rPr sz="1300" b="0">
                <a:solidFill>
                  <a:srgbClr val="5C6660"/>
                </a:solidFill>
                <a:latin typeface="Segoe UI"/>
              </a:rPr>
              <a:t>384Mi limit → 768Mi + CPU cap</a:t>
            </a:r>
          </a:p>
        </p:txBody>
      </p:sp>
      <p:sp>
        <p:nvSpPr>
          <p:cNvPr id="21" name="Rounded Rectangle 20"/>
          <p:cNvSpPr/>
          <p:nvPr/>
        </p:nvSpPr>
        <p:spPr>
          <a:xfrm>
            <a:off x="6309360" y="3886199"/>
            <a:ext cx="1188720" cy="329184"/>
          </a:xfrm>
          <a:prstGeom prst="roundRect">
            <a:avLst>
              <a:gd name="adj" fmla="val 12000"/>
            </a:avLst>
          </a:prstGeom>
          <a:solidFill>
            <a:srgbClr val="FFF0D6"/>
          </a:solidFill>
          <a:ln w="15875">
            <a:solidFill>
              <a:srgbClr val="FFF0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C97B12"/>
                </a:solidFill>
                <a:latin typeface="Segoe UI"/>
              </a:rPr>
              <a:t>Incident</a:t>
            </a:r>
          </a:p>
        </p:txBody>
      </p:sp>
      <p:sp>
        <p:nvSpPr>
          <p:cNvPr id="22" name="TextBox 21"/>
          <p:cNvSpPr txBox="1"/>
          <p:nvPr/>
        </p:nvSpPr>
        <p:spPr>
          <a:xfrm>
            <a:off x="7635240" y="3840479"/>
            <a:ext cx="4114800" cy="731520"/>
          </a:xfrm>
          <a:prstGeom prst="rect">
            <a:avLst/>
          </a:prstGeom>
          <a:noFill/>
        </p:spPr>
        <p:txBody>
          <a:bodyPr wrap="square" anchor="t" lIns="45720" rIns="45720">
            <a:spAutoFit/>
          </a:bodyPr>
          <a:lstStyle/>
          <a:p>
            <a:pPr algn="l">
              <a:spcAft>
                <a:spcPts val="600"/>
              </a:spcAft>
            </a:pPr>
            <a:r>
              <a:rPr sz="1600" b="1">
                <a:solidFill>
                  <a:srgbClr val="1D2420"/>
                </a:solidFill>
                <a:latin typeface="Segoe UI"/>
              </a:rPr>
              <a:t>CI caught schema error</a:t>
            </a:r>
          </a:p>
          <a:p>
            <a:pPr algn="l">
              <a:spcAft>
                <a:spcPts val="600"/>
              </a:spcAft>
            </a:pPr>
            <a:r>
              <a:rPr sz="1300" b="0">
                <a:solidFill>
                  <a:srgbClr val="5C6660"/>
                </a:solidFill>
                <a:latin typeface="Segoe UI"/>
              </a:rPr>
              <a:t>Traefik chart rejects 'logs' key</a:t>
            </a:r>
          </a:p>
        </p:txBody>
      </p:sp>
      <p:sp>
        <p:nvSpPr>
          <p:cNvPr id="23" name="TextBox 22"/>
          <p:cNvSpPr txBox="1"/>
          <p:nvPr/>
        </p:nvSpPr>
        <p:spPr>
          <a:xfrm>
            <a:off x="548640" y="4846320"/>
            <a:ext cx="10972800" cy="1097280"/>
          </a:xfrm>
          <a:prstGeom prst="rect">
            <a:avLst/>
          </a:prstGeom>
          <a:noFill/>
        </p:spPr>
        <p:txBody>
          <a:bodyPr wrap="square" anchor="t" lIns="45720" rIns="45720">
            <a:spAutoFit/>
          </a:bodyPr>
          <a:lstStyle/>
          <a:p>
            <a:pPr algn="l">
              <a:spcAft>
                <a:spcPts val="600"/>
              </a:spcAft>
            </a:pPr>
            <a:r>
              <a:rPr sz="1500" b="1">
                <a:solidFill>
                  <a:srgbClr val="1F5F46"/>
                </a:solidFill>
                <a:latin typeface="Segoe UI"/>
              </a:rPr>
              <a:t>Every lab and incident has a verbatim transcript in docs/evidence/transcripts.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EVIDENCE</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How every claim is backed</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13 / 15</a:t>
            </a:r>
          </a:p>
        </p:txBody>
      </p:sp>
      <p:sp>
        <p:nvSpPr>
          <p:cNvPr id="7" name="TextBox 6"/>
          <p:cNvSpPr txBox="1"/>
          <p:nvPr/>
        </p:nvSpPr>
        <p:spPr>
          <a:xfrm>
            <a:off x="548640" y="1463040"/>
            <a:ext cx="10972800" cy="4572000"/>
          </a:xfrm>
          <a:prstGeom prst="rect">
            <a:avLst/>
          </a:prstGeom>
          <a:noFill/>
        </p:spPr>
        <p:txBody>
          <a:bodyPr wrap="square">
            <a:spAutoFit/>
          </a:bodyPr>
          <a:lstStyle/>
          <a:p>
            <a:pPr>
              <a:spcAft>
                <a:spcPts val="900"/>
              </a:spcAft>
            </a:pPr>
            <a:r>
              <a:rPr sz="1200">
                <a:solidFill>
                  <a:srgbClr val="1F5F46"/>
                </a:solidFill>
                <a:latin typeface="Segoe UI"/>
              </a:rPr>
              <a:t>■  </a:t>
            </a:r>
            <a:r>
              <a:rPr sz="1800">
                <a:solidFill>
                  <a:srgbClr val="1D2420"/>
                </a:solidFill>
                <a:latin typeface="Segoe UI"/>
              </a:rPr>
              <a:t>scripts/record.sh runs the command and saves verbatim output (40 transcripts)</a:t>
            </a:r>
          </a:p>
          <a:p>
            <a:pPr>
              <a:spcAft>
                <a:spcPts val="900"/>
              </a:spcAft>
            </a:pPr>
            <a:r>
              <a:rPr sz="1200">
                <a:solidFill>
                  <a:srgbClr val="1F5F46"/>
                </a:solidFill>
                <a:latin typeface="Segoe UI"/>
              </a:rPr>
              <a:t>■  </a:t>
            </a:r>
            <a:r>
              <a:rPr sz="1800">
                <a:solidFill>
                  <a:srgbClr val="1D2420"/>
                </a:solidFill>
                <a:latin typeface="Segoe UI"/>
              </a:rPr>
              <a:t>63 screenshots mapped to rubric modules in docs/evidence/EVIDENCE-MANIFEST.md</a:t>
            </a:r>
          </a:p>
          <a:p>
            <a:pPr>
              <a:spcAft>
                <a:spcPts val="900"/>
              </a:spcAft>
            </a:pPr>
            <a:r>
              <a:rPr sz="1200">
                <a:solidFill>
                  <a:srgbClr val="1F5F46"/>
                </a:solidFill>
                <a:latin typeface="Segoe UI"/>
              </a:rPr>
              <a:t>■  </a:t>
            </a:r>
            <a:r>
              <a:rPr sz="1800">
                <a:solidFill>
                  <a:srgbClr val="1D2420"/>
                </a:solidFill>
                <a:latin typeface="Segoe UI"/>
              </a:rPr>
              <a:t>docs/SUBMISSION-CHECKLIST.md: every instructor checklist item with status and link</a:t>
            </a:r>
          </a:p>
          <a:p>
            <a:pPr>
              <a:spcAft>
                <a:spcPts val="900"/>
              </a:spcAft>
            </a:pPr>
            <a:r>
              <a:rPr sz="1200">
                <a:solidFill>
                  <a:srgbClr val="1F5F46"/>
                </a:solidFill>
                <a:latin typeface="Segoe UI"/>
              </a:rPr>
              <a:t>■  </a:t>
            </a:r>
            <a:r>
              <a:rPr sz="1800">
                <a:solidFill>
                  <a:srgbClr val="1D2420"/>
                </a:solidFill>
                <a:latin typeface="Segoe UI"/>
              </a:rPr>
              <a:t>7 ADRs · 4 engineering notes · 4 runbooks (incl. EKS apply/destroy, rollback)</a:t>
            </a:r>
          </a:p>
          <a:p>
            <a:pPr>
              <a:spcAft>
                <a:spcPts val="900"/>
              </a:spcAft>
            </a:pPr>
            <a:r>
              <a:rPr sz="1200">
                <a:solidFill>
                  <a:srgbClr val="1F5F46"/>
                </a:solidFill>
                <a:latin typeface="Segoe UI"/>
              </a:rPr>
              <a:t>■  </a:t>
            </a:r>
            <a:r>
              <a:rPr sz="1800">
                <a:solidFill>
                  <a:srgbClr val="1D2420"/>
                </a:solidFill>
                <a:latin typeface="Segoe UI"/>
              </a:rPr>
              <a:t>Pending, stated plainly: AWS apply, console screenshots, terraform destroy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anchor="t" lIns="45720" rIns="45720">
            <a:spAutoFit/>
          </a:bodyPr>
          <a:lstStyle/>
          <a:p>
            <a:pPr algn="l">
              <a:spcAft>
                <a:spcPts val="600"/>
              </a:spcAft>
            </a:pPr>
            <a:r>
              <a:rPr sz="1200" b="1">
                <a:solidFill>
                  <a:srgbClr val="C97B12"/>
                </a:solidFill>
                <a:latin typeface="Segoe UI"/>
              </a:rPr>
              <a:t>REFLECTION</a:t>
            </a:r>
          </a:p>
        </p:txBody>
      </p:sp>
      <p:sp>
        <p:nvSpPr>
          <p:cNvPr id="4" name="TextBox 3"/>
          <p:cNvSpPr txBox="1"/>
          <p:nvPr/>
        </p:nvSpPr>
        <p:spPr>
          <a:xfrm>
            <a:off x="548640" y="566928"/>
            <a:ext cx="11155680" cy="822960"/>
          </a:xfrm>
          <a:prstGeom prst="rect">
            <a:avLst/>
          </a:prstGeom>
          <a:noFill/>
        </p:spPr>
        <p:txBody>
          <a:bodyPr wrap="square" anchor="t" lIns="45720" rIns="45720">
            <a:spAutoFit/>
          </a:bodyPr>
          <a:lstStyle/>
          <a:p>
            <a:pPr algn="l">
              <a:spcAft>
                <a:spcPts val="600"/>
              </a:spcAft>
            </a:pPr>
            <a:r>
              <a:rPr sz="3000" b="1">
                <a:solidFill>
                  <a:srgbClr val="1F5F46"/>
                </a:solidFill>
                <a:latin typeface="Georgia"/>
              </a:rPr>
              <a:t>What I learned</a:t>
            </a:r>
          </a:p>
        </p:txBody>
      </p:sp>
      <p:sp>
        <p:nvSpPr>
          <p:cNvPr id="5" name="TextBox 4"/>
          <p:cNvSpPr txBox="1"/>
          <p:nvPr/>
        </p:nvSpPr>
        <p:spPr>
          <a:xfrm>
            <a:off x="548640" y="6419088"/>
            <a:ext cx="8229600" cy="274320"/>
          </a:xfrm>
          <a:prstGeom prst="rect">
            <a:avLst/>
          </a:prstGeom>
          <a:noFill/>
        </p:spPr>
        <p:txBody>
          <a:bodyPr wrap="square" anchor="t" lIns="45720" rIns="45720">
            <a:spAutoFit/>
          </a:bodyPr>
          <a:lstStyle/>
          <a:p>
            <a:pPr algn="l">
              <a:spcAft>
                <a:spcPts val="600"/>
              </a:spcAft>
            </a:pPr>
            <a:r>
              <a:rPr sz="1000" b="0">
                <a:solidFill>
                  <a:srgbClr val="5C6660"/>
                </a:solidFill>
                <a:latin typeface="Segoe UI"/>
              </a:rPr>
              <a:t>PantryPulse  ·  DevSecOps capstone  ·  Pratyush Mishra</a:t>
            </a:r>
          </a:p>
        </p:txBody>
      </p:sp>
      <p:sp>
        <p:nvSpPr>
          <p:cNvPr id="6" name="TextBox 5"/>
          <p:cNvSpPr txBox="1"/>
          <p:nvPr/>
        </p:nvSpPr>
        <p:spPr>
          <a:xfrm>
            <a:off x="10881360" y="6419088"/>
            <a:ext cx="822960" cy="274320"/>
          </a:xfrm>
          <a:prstGeom prst="rect">
            <a:avLst/>
          </a:prstGeom>
          <a:noFill/>
        </p:spPr>
        <p:txBody>
          <a:bodyPr wrap="square" anchor="t" lIns="45720" rIns="45720">
            <a:spAutoFit/>
          </a:bodyPr>
          <a:lstStyle/>
          <a:p>
            <a:pPr algn="r">
              <a:spcAft>
                <a:spcPts val="600"/>
              </a:spcAft>
            </a:pPr>
            <a:r>
              <a:rPr sz="1000" b="0">
                <a:solidFill>
                  <a:srgbClr val="5C6660"/>
                </a:solidFill>
                <a:latin typeface="Segoe UI"/>
              </a:rPr>
              <a:t>14 / 15</a:t>
            </a:r>
          </a:p>
        </p:txBody>
      </p:sp>
      <p:sp>
        <p:nvSpPr>
          <p:cNvPr id="7" name="TextBox 6"/>
          <p:cNvSpPr txBox="1"/>
          <p:nvPr/>
        </p:nvSpPr>
        <p:spPr>
          <a:xfrm>
            <a:off x="548640" y="1463040"/>
            <a:ext cx="10972800" cy="4572000"/>
          </a:xfrm>
          <a:prstGeom prst="rect">
            <a:avLst/>
          </a:prstGeom>
          <a:noFill/>
        </p:spPr>
        <p:txBody>
          <a:bodyPr wrap="square">
            <a:spAutoFit/>
          </a:bodyPr>
          <a:lstStyle/>
          <a:p>
            <a:pPr>
              <a:spcAft>
                <a:spcPts val="900"/>
              </a:spcAft>
            </a:pPr>
            <a:r>
              <a:rPr sz="1300">
                <a:solidFill>
                  <a:srgbClr val="1F5F46"/>
                </a:solidFill>
                <a:latin typeface="Segoe UI"/>
              </a:rPr>
              <a:t>■  </a:t>
            </a:r>
            <a:r>
              <a:rPr sz="1900">
                <a:solidFill>
                  <a:srgbClr val="1D2420"/>
                </a:solidFill>
                <a:latin typeface="Segoe UI"/>
              </a:rPr>
              <a:t>Scan before you push: a gate after publishing is only a report</a:t>
            </a:r>
          </a:p>
          <a:p>
            <a:pPr>
              <a:spcAft>
                <a:spcPts val="900"/>
              </a:spcAft>
            </a:pPr>
            <a:r>
              <a:rPr sz="1300">
                <a:solidFill>
                  <a:srgbClr val="1F5F46"/>
                </a:solidFill>
                <a:latin typeface="Segoe UI"/>
              </a:rPr>
              <a:t>■  </a:t>
            </a:r>
            <a:r>
              <a:rPr sz="1900">
                <a:solidFill>
                  <a:srgbClr val="1D2420"/>
                </a:solidFill>
                <a:latin typeface="Segoe UI"/>
              </a:rPr>
              <a:t>Commit-SHA tags + GitOps turn rollback into git revert</a:t>
            </a:r>
          </a:p>
          <a:p>
            <a:pPr>
              <a:spcAft>
                <a:spcPts val="900"/>
              </a:spcAft>
            </a:pPr>
            <a:r>
              <a:rPr sz="1300">
                <a:solidFill>
                  <a:srgbClr val="1F5F46"/>
                </a:solidFill>
                <a:latin typeface="Segoe UI"/>
              </a:rPr>
              <a:t>■  </a:t>
            </a:r>
            <a:r>
              <a:rPr sz="1900">
                <a:solidFill>
                  <a:srgbClr val="1D2420"/>
                </a:solidFill>
                <a:latin typeface="Segoe UI"/>
              </a:rPr>
              <a:t>Readiness that checks the schema keeps half-working pods out of traffic</a:t>
            </a:r>
          </a:p>
          <a:p>
            <a:pPr>
              <a:spcAft>
                <a:spcPts val="900"/>
              </a:spcAft>
            </a:pPr>
            <a:r>
              <a:rPr sz="1300">
                <a:solidFill>
                  <a:srgbClr val="1F5F46"/>
                </a:solidFill>
                <a:latin typeface="Segoe UI"/>
              </a:rPr>
              <a:t>■  </a:t>
            </a:r>
            <a:r>
              <a:rPr sz="1900">
                <a:solidFill>
                  <a:srgbClr val="1D2420"/>
                </a:solidFill>
                <a:latin typeface="Segoe UI"/>
              </a:rPr>
              <a:t>Most real failures were platform issues (DNS, host ports, memory limits)</a:t>
            </a:r>
          </a:p>
          <a:p>
            <a:pPr>
              <a:spcAft>
                <a:spcPts val="900"/>
              </a:spcAft>
            </a:pPr>
            <a:r>
              <a:rPr sz="1300">
                <a:solidFill>
                  <a:srgbClr val="1F5F46"/>
                </a:solidFill>
                <a:latin typeface="Segoe UI"/>
              </a:rPr>
              <a:t>■  </a:t>
            </a:r>
            <a:r>
              <a:rPr sz="1900">
                <a:solidFill>
                  <a:srgbClr val="1D2420"/>
                </a:solidFill>
                <a:latin typeface="Segoe UI"/>
              </a:rPr>
              <a:t>Write down trade-offs (ADRs) instead of hiding them; be honest about what is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5F46"/>
        </a:solidFill>
        <a:effectLst/>
      </p:bgPr>
    </p:bg>
    <p:spTree>
      <p:nvGrpSpPr>
        <p:cNvPr id="1" name=""/>
        <p:cNvGrpSpPr/>
        <p:nvPr/>
      </p:nvGrpSpPr>
      <p:grpSpPr/>
      <p:sp>
        <p:nvSpPr>
          <p:cNvPr id="2" name="TextBox 1"/>
          <p:cNvSpPr txBox="1"/>
          <p:nvPr/>
        </p:nvSpPr>
        <p:spPr>
          <a:xfrm>
            <a:off x="822960" y="2011680"/>
            <a:ext cx="10515600" cy="1097280"/>
          </a:xfrm>
          <a:prstGeom prst="rect">
            <a:avLst/>
          </a:prstGeom>
          <a:noFill/>
        </p:spPr>
        <p:txBody>
          <a:bodyPr wrap="square" anchor="t" lIns="45720" rIns="45720">
            <a:spAutoFit/>
          </a:bodyPr>
          <a:lstStyle/>
          <a:p>
            <a:pPr algn="l">
              <a:spcAft>
                <a:spcPts val="600"/>
              </a:spcAft>
            </a:pPr>
            <a:r>
              <a:rPr sz="6000" b="1">
                <a:solidFill>
                  <a:srgbClr val="FFFFFF"/>
                </a:solidFill>
                <a:latin typeface="Georgia"/>
              </a:rPr>
              <a:t>Thank you</a:t>
            </a:r>
          </a:p>
        </p:txBody>
      </p:sp>
      <p:sp>
        <p:nvSpPr>
          <p:cNvPr id="3" name="TextBox 2"/>
          <p:cNvSpPr txBox="1"/>
          <p:nvPr/>
        </p:nvSpPr>
        <p:spPr>
          <a:xfrm>
            <a:off x="822960" y="3200400"/>
            <a:ext cx="10515600" cy="1463040"/>
          </a:xfrm>
          <a:prstGeom prst="rect">
            <a:avLst/>
          </a:prstGeom>
          <a:noFill/>
        </p:spPr>
        <p:txBody>
          <a:bodyPr wrap="square" anchor="t" lIns="45720" rIns="45720">
            <a:spAutoFit/>
          </a:bodyPr>
          <a:lstStyle/>
          <a:p>
            <a:pPr algn="l">
              <a:spcAft>
                <a:spcPts val="600"/>
              </a:spcAft>
            </a:pPr>
            <a:r>
              <a:rPr sz="2000" b="0">
                <a:solidFill>
                  <a:srgbClr val="E6EFEA"/>
                </a:solidFill>
                <a:latin typeface="Segoe UI"/>
              </a:rPr>
              <a:t>Next in this video: a live walkthrough of the codebase, CI/CD, Terraform,</a:t>
            </a:r>
          </a:p>
          <a:p>
            <a:pPr algn="l">
              <a:spcAft>
                <a:spcPts val="600"/>
              </a:spcAft>
            </a:pPr>
            <a:r>
              <a:rPr sz="2000" b="0">
                <a:solidFill>
                  <a:srgbClr val="E6EFEA"/>
                </a:solidFill>
                <a:latin typeface="Segoe UI"/>
              </a:rPr>
              <a:t>Argo CD, Kubernetes, Prometheus and Grafana.</a:t>
            </a:r>
          </a:p>
        </p:txBody>
      </p:sp>
      <p:sp>
        <p:nvSpPr>
          <p:cNvPr id="4" name="TextBox 3"/>
          <p:cNvSpPr txBox="1"/>
          <p:nvPr/>
        </p:nvSpPr>
        <p:spPr>
          <a:xfrm>
            <a:off x="822960" y="4937760"/>
            <a:ext cx="10515600" cy="457200"/>
          </a:xfrm>
          <a:prstGeom prst="rect">
            <a:avLst/>
          </a:prstGeom>
          <a:noFill/>
        </p:spPr>
        <p:txBody>
          <a:bodyPr wrap="square" anchor="t" lIns="45720" rIns="45720">
            <a:spAutoFit/>
          </a:bodyPr>
          <a:lstStyle/>
          <a:p>
            <a:pPr algn="l">
              <a:spcAft>
                <a:spcPts val="600"/>
              </a:spcAft>
            </a:pPr>
            <a:r>
              <a:rPr sz="1600" b="0">
                <a:solidFill>
                  <a:srgbClr val="C9DBD1"/>
                </a:solidFill>
                <a:latin typeface="Segoe UI"/>
              </a:rPr>
              <a:t>github.com/PratyushMishra-2nd/DevopsProject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